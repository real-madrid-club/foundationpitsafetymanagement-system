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9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9" r:id="rId12"/>
    <p:sldId id="257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273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270" r:id="rId46"/>
    <p:sldId id="271" r:id="rId47"/>
    <p:sldId id="266" r:id="rId48"/>
    <p:sldId id="267" r:id="rId49"/>
    <p:sldId id="268" r:id="rId50"/>
    <p:sldId id="269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1006D-2914-004B-A845-DBB3238C661B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1DD15-B242-394B-85D6-2B0D794D1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917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大家好，我是吴博。今天我将向大家汇报我负责的“基坑安全管理系统”中的数据库与工单系统模块。本次答辩将重点介绍该模块的设计思路、核心实现和功能演示。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工单系统的整体业务流转架构。整个流程始于购买方创建工单，随后由监控中心管理员指派给维修工程师。维修工签到并完成维修后，再由购买方进行验收，形成一个完整的闭环。系统中主要涉及三种角色：购买方、管理员和维修工，工单状态从0到4进行流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支撑业务，我设计了9张核心数据表。这包括了用于权限控制的RBAC三张表，设备档案表，以及工单系统的核心表work_order。此外，还设计了用于存储各类监测数据和维保记录的表，确保数据的完整性和可追溯性。所有表结构定义在init_schema.sql文件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系统定义了三种核心角色，并为其分配了不同的职责。监控中心管理员负责全局调度，施工方用户负责发起和验收工单，维修工程师则专注于执行维修任务。这种角色分离保证了流程的清晰和数据的安全。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单系统的核心是状态机设计。工单从创建到完成，会经历待派单、待接单、维修中、待验收和已完成五个主要状态。每个状态的转换都对应一个特定的操作，并且通过SQL条件进行严格校验，确保了工单流转的严谨性和数据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这是实现状态流转的核心SQL语句。可以看到，每一次状态更新都包含了对当前状态的判断，例如，只有当工单状态为0时，才能被更新为1。这种设计有效防止了非法的状态跳转，保证了数据的准确性。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为了方便识别，我设计了工单号自动生成规则，格式为“WO+年月日+三位序号”。同时，系统实现了严格的数据隔离，不同角色只能看到自己权限范围内的工单，有效保障了数据安全。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接下来是功能演示环节。我将按照这五个步骤，依次展示不同角色如何协同完成一个工单的全流程。从创建、指派、维修到最终验收，每一步都会触发相应的状态变化。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最后，对本次工作进行总结。我完成了数据库设计、工单状态机、角色数据隔离、工单号生成以及接口测试等核心任务，确保了工单系统的稳定运行和功能完整性。我的汇报到此结束，谢谢各位老师！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592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544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5.png"/><Relationship Id="rId3" Type="http://schemas.openxmlformats.org/officeDocument/2006/relationships/image" Target="../media/image29.jpeg"/><Relationship Id="rId7" Type="http://schemas.openxmlformats.org/officeDocument/2006/relationships/image" Target="../media/image31.sv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3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png"/><Relationship Id="rId11" Type="http://schemas.openxmlformats.org/officeDocument/2006/relationships/image" Target="../media/image33.png"/><Relationship Id="rId5" Type="http://schemas.openxmlformats.org/officeDocument/2006/relationships/image" Target="../media/image19.svg"/><Relationship Id="rId15" Type="http://schemas.openxmlformats.org/officeDocument/2006/relationships/image" Target="../media/image37.png"/><Relationship Id="rId10" Type="http://schemas.openxmlformats.org/officeDocument/2006/relationships/image" Target="../media/image32.jpeg"/><Relationship Id="rId4" Type="http://schemas.openxmlformats.org/officeDocument/2006/relationships/image" Target="../media/image18.png"/><Relationship Id="rId9" Type="http://schemas.openxmlformats.org/officeDocument/2006/relationships/image" Target="../media/image13.svg"/><Relationship Id="rId14" Type="http://schemas.openxmlformats.org/officeDocument/2006/relationships/image" Target="../media/image3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11" Type="http://schemas.openxmlformats.org/officeDocument/2006/relationships/image" Target="../media/image48.jpe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svg"/><Relationship Id="rId11" Type="http://schemas.openxmlformats.org/officeDocument/2006/relationships/image" Target="../media/image49.png"/><Relationship Id="rId5" Type="http://schemas.openxmlformats.org/officeDocument/2006/relationships/image" Target="../media/image53.png"/><Relationship Id="rId10" Type="http://schemas.openxmlformats.org/officeDocument/2006/relationships/image" Target="../media/image47.svg"/><Relationship Id="rId4" Type="http://schemas.openxmlformats.org/officeDocument/2006/relationships/image" Target="../media/image52.svg"/><Relationship Id="rId9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11" Type="http://schemas.openxmlformats.org/officeDocument/2006/relationships/image" Target="../media/image50.pn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4.svg"/><Relationship Id="rId9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2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10" Type="http://schemas.openxmlformats.org/officeDocument/2006/relationships/image" Target="../media/image68.svg"/><Relationship Id="rId4" Type="http://schemas.openxmlformats.org/officeDocument/2006/relationships/image" Target="../media/image23.svg"/><Relationship Id="rId9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jpeg"/><Relationship Id="rId3" Type="http://schemas.openxmlformats.org/officeDocument/2006/relationships/image" Target="../media/image32.jpeg"/><Relationship Id="rId7" Type="http://schemas.openxmlformats.org/officeDocument/2006/relationships/image" Target="../media/image7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70.jpeg"/><Relationship Id="rId4" Type="http://schemas.openxmlformats.org/officeDocument/2006/relationships/image" Target="../media/image6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基坑安全管理系统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Foundation Pit Safety Monitoring &amp; AI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3017520" cy="3657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JavaWeb应用开发 · 期末项目答辩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ctr">
              <a:spcAft>
                <a:spcPts val="400"/>
              </a:spcAft>
              <a:defRPr sz="2000" b="1">
                <a:solidFill>
                  <a:srgbClr val="DD6B20"/>
                </a:solidFill>
                <a:latin typeface="Microsoft YaHei"/>
              </a:defRPr>
            </a:pPr>
            <a:r>
              <a:t>答辩人：胡昱璠（组长）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ctr">
              <a:spcAft>
                <a:spcPts val="400"/>
              </a:spcAft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讲解内容：项目总览 + AI模块 + 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9AB0"/>
                </a:solidFill>
                <a:latin typeface="Microsoft YaHei"/>
              </a:defRPr>
            </a:pPr>
            <a: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7762C4C-AF43-6F3F-66CE-A0E586D09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zh-CN" altLang="en-US" sz="5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👨‍💻 开发团队</a:t>
            </a:r>
          </a:p>
          <a:p>
            <a:pPr marL="0" marR="0" lvl="0" indent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zh-CN" sz="54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ED5B063-7507-402C-EAE8-8AF2E6B0D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08626"/>
              </p:ext>
            </p:extLst>
          </p:nvPr>
        </p:nvGraphicFramePr>
        <p:xfrm>
          <a:off x="5922492" y="1034422"/>
          <a:ext cx="5536002" cy="4730408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2655404">
                  <a:extLst>
                    <a:ext uri="{9D8B030D-6E8A-4147-A177-3AD203B41FA5}">
                      <a16:colId xmlns:a16="http://schemas.microsoft.com/office/drawing/2014/main" val="2871175009"/>
                    </a:ext>
                  </a:extLst>
                </a:gridCol>
                <a:gridCol w="2880598">
                  <a:extLst>
                    <a:ext uri="{9D8B030D-6E8A-4147-A177-3AD203B41FA5}">
                      <a16:colId xmlns:a16="http://schemas.microsoft.com/office/drawing/2014/main" val="2706167139"/>
                    </a:ext>
                  </a:extLst>
                </a:gridCol>
              </a:tblGrid>
              <a:tr h="425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成员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核心贡献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631346"/>
                  </a:ext>
                </a:extLst>
              </a:tr>
              <a:tr h="909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胡昱璠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组长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架构设计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AI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模块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3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D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基坑模型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健康预测算法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数据入库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Code Review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44137"/>
                  </a:ext>
                </a:extLst>
              </a:tr>
              <a:tr h="909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袁梓昊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后端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RBAC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权限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监测数据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API 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大屏统计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API · JWT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认证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Spring Security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653276"/>
                  </a:ext>
                </a:extLst>
              </a:tr>
              <a:tr h="909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吴博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后端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设备管理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CRUD 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工单全链路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API 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角色数据隔离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状态机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SQL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877720"/>
                  </a:ext>
                </a:extLst>
              </a:tr>
              <a:tr h="909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胡智慧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前端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全部页面搭建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ECharts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图表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角色隔离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UI 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前后端联调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API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封装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246997"/>
                  </a:ext>
                </a:extLst>
              </a:tr>
              <a:tr h="6674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b="1" cap="none" spc="0">
                          <a:solidFill>
                            <a:schemeClr val="bg1"/>
                          </a:solidFill>
                          <a:effectLst/>
                        </a:rPr>
                        <a:t>罗志林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文档和建模、模型算法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数据入库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期末报告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集成测试 </a:t>
                      </a:r>
                      <a:r>
                        <a:rPr lang="en-US" altLang="zh-CN" sz="1600" cap="none" spc="0">
                          <a:solidFill>
                            <a:schemeClr val="bg1"/>
                          </a:solidFill>
                          <a:effectLst/>
                        </a:rPr>
                        <a:t>· 3</a:t>
                      </a:r>
                      <a:r>
                        <a:rPr lang="en" sz="1600" cap="none" spc="0">
                          <a:solidFill>
                            <a:schemeClr val="bg1"/>
                          </a:solidFill>
                          <a:effectLst/>
                        </a:rPr>
                        <a:t>D </a:t>
                      </a:r>
                      <a:r>
                        <a:rPr lang="zh-CN" altLang="en-US" sz="1600" cap="none" spc="0">
                          <a:solidFill>
                            <a:schemeClr val="bg1"/>
                          </a:solidFill>
                          <a:effectLst/>
                        </a:rPr>
                        <a:t>模型处理算法</a:t>
                      </a:r>
                    </a:p>
                  </a:txBody>
                  <a:tcPr marL="122833" marR="122833" marT="56692" marB="9070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056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21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1.1 项目介绍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PROJECT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03327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D3748"/>
                </a:solidFill>
                <a:latin typeface="Microsoft YaHei"/>
              </a:defRPr>
            </a:pPr>
            <a:r>
              <a:t>基坑设备安全监测与智能预警管理系统 —— 面向监控中心、施工方、维修工程师三角色，</a:t>
            </a:r>
            <a:br/>
            <a:r>
              <a:t>集设备管理、工单调度、AI故障诊断、趋势预测、3D数字孪生于一体。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926080"/>
            <a:ext cx="292608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D6B20"/>
                </a:solidFill>
                <a:latin typeface="Microsoft YaHei"/>
              </a:defRPr>
            </a:pPr>
            <a:r>
              <a:t>35万+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真实监测数据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31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全站仪位移 / 伺服轴力</a:t>
            </a:r>
            <a:br/>
            <a:r>
              <a:t>钢支撑温度 / 调整记录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926080"/>
            <a:ext cx="292608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D6B20"/>
                </a:solidFill>
                <a:latin typeface="Microsoft YaHei"/>
              </a:defRPr>
            </a:pPr>
            <a:r>
              <a:t>24台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传感器设备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931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覆盖3类传感器</a:t>
            </a:r>
            <a:br/>
            <a:r>
              <a:t>数据跨 2025.12~2026.03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926080"/>
            <a:ext cx="2926080" cy="20116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30175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D6B20"/>
                </a:solidFill>
                <a:latin typeface="Microsoft YaHei"/>
              </a:defRPr>
            </a:pPr>
            <a:r>
              <a:t>3角色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566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闭环管理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9319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admin / buyer</a:t>
            </a:r>
            <a:br/>
            <a:r>
              <a:t>repairer 三级隔离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5920" y="5349240"/>
            <a:ext cx="8869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📊 数据来源：PitMonitor-TwinBench 学术基准数据集 | 时间跨度：2025-12-16 ~ 2026-03-02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🤖 AI能力：基于 DeepSeek API，支持检修助手 / 健康监测 / 趋势预测三种模式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1.2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45920"/>
            <a:ext cx="75895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688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前端展示层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Vue 3 + Element Plus + ECharts + Three.js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↕ REST API + JWT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3291840"/>
            <a:ext cx="75895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8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后端服务层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Spring Boot 3.2 + MyBatis + Spring Security + WebFlux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2062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Microsoft YaHei"/>
              </a:defRPr>
            </a:pPr>
            <a:r>
              <a:t>↕ JDBC / WebClient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4937760"/>
            <a:ext cx="7589520" cy="640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数据与AI层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MySQL 8.0 (35万条) + DeepSeek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Vue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Element 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97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ECharts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6126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Three.js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6355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Axios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583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Vue Router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19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Spring Boot 3.2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19" y="5669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MyBatis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19" y="5897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Spring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19" y="6126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19" y="6355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WebFlux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MySQL 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669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JDBC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897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MyBatis XML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126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PageHelper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D6B20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4406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DeepSeek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669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System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897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WebClient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6126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• 120s超时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1.3 AI 模块三大模式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MODULE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9184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011680" y="1645920"/>
            <a:ext cx="1097280" cy="10972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17830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检修助手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SYSTEM_MAINTENANCE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粘贴设备故障描述</a:t>
            </a:r>
            <a:br/>
            <a:r>
              <a:t>AI 给出排查步骤与维修方案</a:t>
            </a:r>
            <a:br/>
            <a:r>
              <a:t>精通6类基坑设备诊断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63040"/>
            <a:ext cx="329184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9280" y="1645920"/>
            <a:ext cx="1097280" cy="1097280"/>
          </a:xfrm>
          <a:prstGeom prst="ellipse">
            <a:avLst/>
          </a:prstGeom>
          <a:solidFill>
            <a:srgbClr val="059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17830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健康监测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SYSTEM_HEALTH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粘贴传感器异常数据</a:t>
            </a:r>
            <a:br/>
            <a:r>
              <a:t>AI 诊断9种异常类型</a:t>
            </a:r>
            <a:br/>
            <a:r>
              <a:t>区分物理故障 vs 传感器故障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29184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0" y="1645920"/>
            <a:ext cx="1097280" cy="109728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78308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Microsoft YaHei"/>
              </a:defRPr>
            </a:pPr>
            <a:r>
              <a:t>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智能预测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SYSTEM_PREDICT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6576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748"/>
                </a:solidFill>
                <a:latin typeface="Microsoft YaHei"/>
              </a:defRPr>
            </a:pPr>
            <a:r>
              <a:t>选择传感器 → 一键预测</a:t>
            </a:r>
            <a:br/>
            <a:r>
              <a:t>四步框架：趋势识别→模式匹配</a:t>
            </a:r>
            <a:br/>
            <a:r>
              <a:t>→推演→预警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1.3 AI 检修助手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MAINTENANCE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6/14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功能说明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2D3748"/>
                </a:solidFill>
                <a:latin typeface="Microsoft YaHei"/>
              </a:defRPr>
            </a:pPr>
            <a:r>
              <a:t>用户粘贴设备故障描述 → AI 自动分析并给出排查步骤、维修方案与注意事项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精通设备：测斜仪、水位计、土压力计、钢筋应力计、锚索测力计、位移计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10332720" cy="29260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9784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ACE0"/>
                </a:solidFill>
                <a:latin typeface="JetBrains Mono"/>
              </a:defRPr>
            </a:pPr>
            <a:r>
              <a:t>// DeepSeekService.java:23-36 — SYSTEM_MAINTENANCE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FFFFFF"/>
                </a:solidFill>
                <a:latin typeface="JetBrains Mono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private static final String SYSTEM_MAINTENANCE = """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你是一个基坑工程设备维修专家助手。你精通以下设备的故障诊断与维修：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- 测斜仪（倾角传感器）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- 水位计（孔隙水压力计）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- 土压力计 / 钢筋应力计 / 锚索测力计 / 位移计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请根据用户描述的故障现象提供：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1. 可能的故障原因分析  2. 排查步骤建议  3. 维修方案与注意事项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    """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1.3 AI 健康监测 — 9种异常诊断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HEALTH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10312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545"/>
                </a:solidFill>
                <a:latin typeface="Microsoft YaHei"/>
              </a:defRPr>
            </a:pPr>
            <a:r>
              <a:t>🔴 物理结构异常 (2种)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3545"/>
                </a:solidFill>
                <a:latin typeface="Microsoft YaHei"/>
              </a:defRPr>
            </a:pPr>
            <a:r>
              <a:t>physical_support_failure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【支撑失效】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承载力骤降，轴力与位移多变量联动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3545"/>
                </a:solidFill>
                <a:latin typeface="Microsoft YaHei"/>
              </a:defRPr>
            </a:pPr>
            <a:r>
              <a:t>physical_deformation_acceleration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3748"/>
                </a:solidFill>
                <a:latin typeface="Microsoft YaHei"/>
              </a:defRPr>
            </a:pPr>
            <a:r>
              <a:t>【变形加速】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累计位移持续增大，基坑稳定性劣化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029200" cy="2103120"/>
          </a:xfrm>
          <a:prstGeom prst="rect">
            <a:avLst/>
          </a:prstGeom>
          <a:solidFill>
            <a:srgbClr val="EE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6CB0"/>
                </a:solidFill>
                <a:latin typeface="Microsoft YaHei"/>
              </a:defRPr>
            </a:pPr>
            <a:r>
              <a:t>🟡 传感器与观测异常 (7种)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sensor_spike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01168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瞬时尖峰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0116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数值跳变后迅速恢复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2199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sensor_drift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219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长期漂移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21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缓慢单向偏移，需重新校准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323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sensor_stuck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4323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数据卡死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323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连续多点数值几乎不变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4261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sensor_missing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64261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数据缺失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6426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时间段内无有效记录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529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sensor_time_shift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285292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时间错位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8529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多传感器时序对齐错误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6324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temperature_compensation_error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0632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温度补偿误差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06324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温度变化未补偿导致偏差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27355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B6CB0"/>
                </a:solidFill>
                <a:latin typeface="Microsoft YaHei"/>
              </a:defRPr>
            </a:pPr>
            <a:r>
              <a:t>environment_sensor_fault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2735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3748"/>
                </a:solidFill>
                <a:latin typeface="Microsoft YaHei"/>
              </a:defRPr>
            </a:pPr>
            <a:r>
              <a:t>环境传感器故障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2735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温/湿度/气压异常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伺服轴力计参数表 (注入 System Prompt)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┌────────┬──────────────┬──────────┬──────────┬──────────┬──────────────┬──────────────┬──────────────┐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2D3748"/>
                </a:solidFill>
                <a:latin typeface="Microsoft YaHei"/>
              </a:defRPr>
            </a:pPr>
            <a:r>
              <a:t>│  设备  │ 轴力范围(kN) │ 轴力均值  │ 轴力P95  │ 力温相关  │  温度范围(℃) │  位置范围    │  力位相关  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├────────┼──────────────┼──────────┼──────────┼──────────┼──────────────┼──────────────┼──────────────┤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2D3748"/>
                </a:solidFill>
                <a:latin typeface="Microsoft YaHei"/>
              </a:defRPr>
            </a:pPr>
            <a:r>
              <a:t>│  SP1   │  13 ~ 20819  │   1617   │   2234   │   0.30   │  2.4 ~ 31.1  │  197 ~ 1926  │    0.33      │</a:t>
            </a:r>
          </a:p>
          <a:p>
            <a:pPr algn="l">
              <a:spcAft>
                <a:spcPts val="400"/>
              </a:spcAft>
              <a:defRPr sz="1000" b="1">
                <a:solidFill>
                  <a:srgbClr val="DD6B20"/>
                </a:solidFill>
                <a:latin typeface="Microsoft YaHei"/>
              </a:defRPr>
            </a:pPr>
            <a:r>
              <a:t>│  4P1   │   8 ~ 2329   │   1107   │   1875   │   0.71   │  2.7 ~ 28.6  │  197 ~ 271   │    0.14    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2D3748"/>
                </a:solidFill>
                <a:latin typeface="Microsoft YaHei"/>
              </a:defRPr>
            </a:pPr>
            <a:r>
              <a:t>│  4P2   │   7 ~ 20819  │    946   │   1518   │   0.54   │  2.2 ~ 28.7  │  197 ~ 1926  │    0.57      │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└────────┴──────────────┴──────────┴──────────┴──────────┴──────────────┴──────────────┴──────────────┘</a:t>
            </a:r>
          </a:p>
          <a:p>
            <a:pPr algn="l">
              <a:spcAft>
                <a:spcPts val="400"/>
              </a:spcAft>
              <a:defRPr sz="1100" b="1">
                <a:solidFill>
                  <a:srgbClr val="DD6B20"/>
                </a:solidFill>
                <a:latin typeface="Microsoft YaHei"/>
              </a:defRPr>
            </a:pPr>
            <a:r>
              <a:t>⚠ 关键发现：4P1 力-温相关系数 0.71（强相关），若温度明显变化但轴力未联动 → 排查 sensor_stuck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1.3 AI 智能预测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AI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8/14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2D3748"/>
                </a:solidFill>
                <a:latin typeface="Microsoft YaHei"/>
              </a:defRPr>
            </a:pPr>
            <a:r>
              <a:t>功能：监测数据页 → 选择传感器 → 点击 🔮 智能预测 → AI 分析趋势并给出预警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代码位置：AiChatController.java:77-92 | DeepSeekService.java:126-159 — SYSTEM_PREDICT</a:t>
            </a:r>
          </a:p>
        </p:txBody>
      </p:sp>
      <p:sp>
        <p:nvSpPr>
          <p:cNvPr id="8" name="Oval 7"/>
          <p:cNvSpPr/>
          <p:nvPr/>
        </p:nvSpPr>
        <p:spPr>
          <a:xfrm>
            <a:off x="1737360" y="237744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趋势识别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识别数据中存在的</a:t>
            </a:r>
            <a:br/>
            <a:r>
              <a:t>趋势性变化模式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2377440"/>
            <a:ext cx="731520" cy="73152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模式匹配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566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与已知异常模式库</a:t>
            </a:r>
            <a:br/>
            <a:r>
              <a:t>进行特征匹配比对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377440"/>
            <a:ext cx="731520" cy="73152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推演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566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基于匹配结果推演</a:t>
            </a:r>
            <a:br/>
            <a:r>
              <a:t>未来变化轨迹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9966960" y="2377440"/>
            <a:ext cx="731520" cy="73152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96696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预警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5661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给出风险等级和</a:t>
            </a:r>
            <a:br/>
            <a:r>
              <a:t>建议处置措施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480560"/>
            <a:ext cx="10332720" cy="173736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572000"/>
            <a:ext cx="9784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BACE0"/>
                </a:solidFill>
                <a:latin typeface="JetBrains Mono"/>
              </a:defRPr>
            </a:pPr>
            <a:r>
              <a:t>// SYSTEM_PREDICT — 四步预测框架</a:t>
            </a:r>
          </a:p>
          <a:p>
            <a:pPr algn="l">
              <a:spcAft>
                <a:spcPts val="400"/>
              </a:spcAft>
              <a:defRPr sz="300" b="0">
                <a:solidFill>
                  <a:srgbClr val="FFFFFF"/>
                </a:solidFill>
                <a:latin typeface="JetBrains Mono"/>
              </a:defRPr>
            </a:pPr>
            <a:endParaRPr/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你是一个基坑工程监测数据趋势预测专家。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预测流程：趋势识别→模式匹配→推演→预警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C0C8D0"/>
                </a:solidFill>
                <a:latin typeface="JetBrains Mono"/>
              </a:defRPr>
            </a:pPr>
            <a:r>
              <a:t>输出：预测值+变化趋势 | 风险等级 | 关键临界点 | 建议监测周期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1.3 DeepSeek 连接配置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DEEPSEEK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120s 超时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避免长时间等待</a:t>
            </a:r>
            <a:br/>
            <a:r>
              <a:t>大模型推理响应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Bearer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API Key 认证</a:t>
            </a:r>
            <a:br/>
            <a:r>
              <a:t>环境变量注入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401/429 错误处理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未授权 / 频率限制</a:t>
            </a:r>
            <a:br/>
            <a:r>
              <a:t>优雅降级提示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WebClient 异步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Spring WebFlux</a:t>
            </a:r>
            <a:br/>
            <a:r>
              <a:t>非阻塞 HTTP 调用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System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663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三种模式独立 Prompt</a:t>
            </a:r>
            <a:br/>
            <a:r>
              <a:t>注入校准参数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4023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069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流式响应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6634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SSE (Server-Sent Events)</a:t>
            </a:r>
            <a:br/>
            <a:r>
              <a:t>逐字返回提升体验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📁 配置类：backend/.../ai/config/DeepSeekConfig.java:15-27  |  Service：DeepSeekService.java  |  Controller：AiChatController.java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1.4 项目价值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PROJECT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32004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D6B20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真实数据驱动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3017520"/>
            <a:ext cx="100584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不同于普通的增删改查系统，</a:t>
            </a:r>
            <a:br/>
            <a:r>
              <a:t>我们的数据是真实的——</a:t>
            </a:r>
            <a:br/>
            <a:r>
              <a:t>35万条PitMonitor-TwinBench</a:t>
            </a:r>
            <a:br/>
            <a:r>
              <a:t>学术基准数据集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645920"/>
            <a:ext cx="32004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D6B20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AI 专业诊断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017520"/>
            <a:ext cx="100584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DeepSeek AI 不是简单问答，</a:t>
            </a:r>
            <a:br/>
            <a:r>
              <a:t>而是注入了工程参数与9种</a:t>
            </a:r>
            <a:br/>
            <a:r>
              <a:t>异常模式的领域专家系统，</a:t>
            </a:r>
            <a:br/>
            <a:r>
              <a:t>诊断结果有工程依据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320040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92024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DD6B20"/>
                </a:solidFill>
                <a:latin typeface="Microsoft YaHei"/>
              </a:defRPr>
            </a:pPr>
            <a:r>
              <a:t>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603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  <a:latin typeface="Microsoft YaHei"/>
              </a:defRPr>
            </a:pPr>
            <a:r>
              <a:t>工程级3D可视化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3017520"/>
            <a:ext cx="100584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200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Microsoft YaHei"/>
              </a:defRPr>
            </a:pPr>
            <a:r>
              <a:t>Three.js + CSS2DRenderer</a:t>
            </a:r>
            <a:br/>
            <a:r>
              <a:t>构建的数字孪生不只是好看，</a:t>
            </a:r>
            <a:br/>
            <a:r>
              <a:t>血条/点击交互/Y偏移</a:t>
            </a:r>
            <a:br/>
            <a:r>
              <a:t>都具有工程实用价值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212080"/>
            <a:ext cx="9418320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5303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和普通增删改查系统不同，我们的数据是真实的、AI 是专业的、3D 可视化是工程级的。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0E5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382000" y="4318000"/>
            <a:ext cx="5080000" cy="5080000"/>
          </a:xfrm>
          <a:prstGeom prst="ellipse">
            <a:avLst/>
          </a:prstGeom>
          <a:solidFill>
            <a:srgbClr val="00E5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000000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794000"/>
            <a:ext cx="1117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基坑安全管理系统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数据库与工单系统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4184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508000" y="457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答辩演示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5842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08000" y="5842000"/>
            <a:ext cx="76200" cy="635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演讲人：吴博  |  计科24-1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业务流转架构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0320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22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844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需求发起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购买方提交故障描述，创建服务工单</a:t>
            </a:r>
          </a:p>
        </p:txBody>
      </p:sp>
      <p:cxnSp>
        <p:nvCxnSpPr>
          <p:cNvPr id="7" name="Connector 7"/>
          <p:cNvCxnSpPr/>
          <p:nvPr/>
        </p:nvCxnSpPr>
        <p:spPr>
          <a:xfrm rot="-85925">
            <a:off x="2921079" y="25971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8" name="AutoShape 8"/>
          <p:cNvSpPr/>
          <p:nvPr/>
        </p:nvSpPr>
        <p:spPr>
          <a:xfrm>
            <a:off x="3556000" y="2032000"/>
            <a:ext cx="20320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500" y="222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21844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中台调度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监控中心审核工单，智能/人工指派维修工</a:t>
            </a:r>
          </a:p>
        </p:txBody>
      </p:sp>
      <p:cxnSp>
        <p:nvCxnSpPr>
          <p:cNvPr id="11" name="Connector 11"/>
          <p:cNvCxnSpPr/>
          <p:nvPr/>
        </p:nvCxnSpPr>
        <p:spPr>
          <a:xfrm rot="-85925">
            <a:off x="5715079" y="25971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2" name="AutoShape 12"/>
          <p:cNvSpPr/>
          <p:nvPr/>
        </p:nvSpPr>
        <p:spPr>
          <a:xfrm>
            <a:off x="6350000" y="2032000"/>
            <a:ext cx="20320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2222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2184400"/>
            <a:ext cx="1333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外勤执行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维修工接单签到，现场排查并完成维修作业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191000"/>
            <a:ext cx="7620000" cy="1270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381500"/>
            <a:ext cx="622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闭环验收：服务归档与评价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维修完成后，系统自动推送验收通知至购买方；购买方确认服务结果并进行满意度评价，完成全流程闭环，同时生成服务记录归档。</a:t>
            </a:r>
          </a:p>
        </p:txBody>
      </p:sp>
      <p:cxnSp>
        <p:nvCxnSpPr>
          <p:cNvPr id="18" name="Connector 18"/>
          <p:cNvCxnSpPr/>
          <p:nvPr/>
        </p:nvCxnSpPr>
        <p:spPr>
          <a:xfrm rot="5388540">
            <a:off x="6858000" y="3930661"/>
            <a:ext cx="381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017000" y="2032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017000" y="2032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207500" y="2159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核心角色矩阵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9098">
            <a:off x="9207518" y="25971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207500" y="2730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 BUYER（需求发起与验收）、ADMIN（中台监控与调度）、REPAIRER（现场服务执行）三类关键角色，权责分离，协同运转。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017000" y="4064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017000" y="4064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9207500" y="4191000"/>
            <a:ext cx="234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工单状态编码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098">
            <a:off x="9207518" y="46291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207500" y="47625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状态编码 0~4 覆盖全生命周期：0(待创建) → 1(待指派) → 2(待维修) → 3(待验收) → 4(已归档)，确保节点可追溯、状态可控。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092">
            <a:off x="762004" y="6216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906000" y="63500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吴博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数据库数据表设计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143000"/>
          <a:ext cx="10668000" cy="584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业务模块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数据表名 (Table Name)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表结构说明与核心用途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RBAC权限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sys_user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存储系统用户基础信息，包含账号、密码、状态等核心字段，是权限体系的基础载体。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RBAC权限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sys_role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定义系统角色类型与权限集合，实现基于角色的权限管控，关联菜单、接口等资源权限。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RBAC权限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sys_user_role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用户与角色的多对多关联表，解耦用户实体与角色实体，灵活分配不同用户的角色权限。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设备管理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device_info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全量设备的基础档案库，记录设备型号、安装位置、厂商信息及生命周期状态等核心数据。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工单流程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work_order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工单核心流转主表，贯穿报修、派单、处理、验收全流程，关联设备、人员与进度节点。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监测采集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data_total_station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存储全站仪监测的空间位移、变形等关键数据，按时间序列归档，支撑结构安全分析。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监测采集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data_axial_force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记录伺服系统轴力实时监测数据，包含压力值、采集时间、传感器编号，保障设备运行稳定。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监测采集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data_steel_temperature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存储钢结构、混凝土等关键部位的温度监测数据，为热胀冷缩形变分析提供数据支撑。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运维维保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maintenance_adjust_record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留存设备维保、参数调整、故障修复的全过程记录，形成完整的设备运维历史台账。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092">
            <a:off x="762004" y="608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813800" y="50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代码位置：sql/init_schema.sql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81800" y="647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吴博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三大角色及职责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2032000"/>
          <a:ext cx="10668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角色编码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角色名称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核心职责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ROLE_ADMIN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监控中心管理员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作为系统最高权限角色，负责全局资源调度，可指派维修工程师处理工单，并有权限查看系统内所有历史及实时工单数据，统筹整体维修进度。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ROLE_BUYER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施工方购买用户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作为业务发起端，负责提交设备故障报修工单，填写故障详情与现场信息；在维修完成后，对工单结果进行验收确认，形成业务闭环的关键节点。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ROLE_REPAIRER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维修工程师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接收管理员派发的工单任务，前往现场执行设备维修操作；维修完成后，需如实填写维修日志，记录故障原因、解决方案及更换配件等关键信息。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Connector 5"/>
          <p:cNvCxnSpPr/>
          <p:nvPr/>
        </p:nvCxnSpPr>
        <p:spPr>
          <a:xfrm rot="-4092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615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代码位置：sql/init_schema.sql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6159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吴博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工单状态机设计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E5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9050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待派单 (0)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工单创建初始态</a:t>
            </a:r>
          </a:p>
        </p:txBody>
      </p:sp>
      <p:cxnSp>
        <p:nvCxnSpPr>
          <p:cNvPr id="6" name="Connector 6"/>
          <p:cNvCxnSpPr/>
          <p:nvPr/>
        </p:nvCxnSpPr>
        <p:spPr>
          <a:xfrm rot="-137436">
            <a:off x="2794127" y="2279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7" name="AutoShape 7"/>
          <p:cNvSpPr/>
          <p:nvPr/>
        </p:nvSpPr>
        <p:spPr>
          <a:xfrm>
            <a:off x="3238500" y="1778000"/>
            <a:ext cx="19050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238500" y="1905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待接单 (1)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已指派待维修确认</a:t>
            </a:r>
          </a:p>
        </p:txBody>
      </p:sp>
      <p:cxnSp>
        <p:nvCxnSpPr>
          <p:cNvPr id="9" name="Connector 9"/>
          <p:cNvCxnSpPr/>
          <p:nvPr/>
        </p:nvCxnSpPr>
        <p:spPr>
          <a:xfrm rot="-137436">
            <a:off x="5270627" y="2279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5715000" y="1778000"/>
            <a:ext cx="19050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715000" y="1905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维修中 (2)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维修工签到并作业</a:t>
            </a:r>
          </a:p>
        </p:txBody>
      </p:sp>
      <p:cxnSp>
        <p:nvCxnSpPr>
          <p:cNvPr id="12" name="Connector 12"/>
          <p:cNvCxnSpPr/>
          <p:nvPr/>
        </p:nvCxnSpPr>
        <p:spPr>
          <a:xfrm rot="-137436">
            <a:off x="7747127" y="2279650"/>
            <a:ext cx="31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3" name="AutoShape 13"/>
          <p:cNvSpPr/>
          <p:nvPr/>
        </p:nvSpPr>
        <p:spPr>
          <a:xfrm>
            <a:off x="8191500" y="1778000"/>
            <a:ext cx="17145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91500" y="1905000"/>
            <a:ext cx="171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待验收 (3)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维修完成待确认</a:t>
            </a:r>
          </a:p>
        </p:txBody>
      </p:sp>
      <p:cxnSp>
        <p:nvCxnSpPr>
          <p:cNvPr id="15" name="Connector 15"/>
          <p:cNvCxnSpPr/>
          <p:nvPr/>
        </p:nvCxnSpPr>
        <p:spPr>
          <a:xfrm rot="-228844">
            <a:off x="9969711" y="2279650"/>
            <a:ext cx="19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10223500" y="1778000"/>
            <a:ext cx="14605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223500" y="1905000"/>
            <a:ext cx="1460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 (4)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验收通过归档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330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762000" y="3683000"/>
          <a:ext cx="10668000" cy="3337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原状态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新状态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SQL 状态校验条件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创建工单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-（无）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 (待派单)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INSERT INTO t_order (..., status) VALUES (..., 0)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指派维修工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(待接单)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UPDATE t_order SET status=1 WHERE id=? AND status=0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签到开始维修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 (维修中)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UPDATE t_order SET status=2 WHERE id=? AND status=1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提交维修完成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 (待验收)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UPDATE t_order SET status=3 WHERE id=? AND status=2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客户验收通过/取消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6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 / 0,1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(完成) / -1 (取消)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UPDATE t_order SET status=? WHERE id=? AND status IN (0,1,3)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0" name="Connector 20"/>
          <p:cNvCxnSpPr/>
          <p:nvPr/>
        </p:nvCxnSpPr>
        <p:spPr>
          <a:xfrm rot="-4092">
            <a:off x="762004" y="640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62000" y="6477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代码位置：WorkOrderMapper.xml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64770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吴博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工单流转核心SQL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3429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953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-- 1. 指派维修工：仅当原状态为0(待指派)时可更新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work_order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1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 = ?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0;</a:t>
            </a: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-- 2. 开始维修：仅当原状态为1(已指派)时可更新</a:t>
            </a: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work_order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2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 = ?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1;</a:t>
            </a:r>
          </a:p>
        </p:txBody>
      </p:sp>
      <p:cxnSp>
        <p:nvCxnSpPr>
          <p:cNvPr id="6" name="Connector 6"/>
          <p:cNvCxnSpPr/>
          <p:nvPr/>
        </p:nvCxnSpPr>
        <p:spPr>
          <a:xfrm rot="5385053">
            <a:off x="4635500" y="3486164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2032000"/>
            <a:ext cx="4953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-- 3. 完成维修：仅当原状态为2(维修中)时可更新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work_order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3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 = ?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2;</a:t>
            </a: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-- 4. 验收通过：仅当原状态为3(已完成)时可更新</a:t>
            </a: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work_order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SET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4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WHERE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id = ?</a:t>
            </a:r>
            <a:r>
              <a:rPr lang="en-US" sz="1400" b="0" i="0" u="none" strike="noStrike">
                <a:solidFill>
                  <a:srgbClr val="00E5FF"/>
                </a:solidFill>
                <a:latin typeface="Roboto Mono"/>
                <a:ea typeface="Roboto Mono"/>
                <a:cs typeface="Roboto Mono"/>
                <a:sym typeface="Roboto Mono"/>
              </a:rPr>
              <a:t>AND</a:t>
            </a:r>
            <a:r>
              <a:rPr lang="en-US" sz="1400" b="0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status = 3;</a:t>
            </a:r>
          </a:p>
        </p:txBody>
      </p:sp>
      <p:cxnSp>
        <p:nvCxnSpPr>
          <p:cNvPr id="8" name="Connector 8"/>
          <p:cNvCxnSpPr/>
          <p:nvPr/>
        </p:nvCxnSpPr>
        <p:spPr>
          <a:xfrm rot="-4092">
            <a:off x="762004" y="564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62000" y="5905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代码位置：WorkOrderMapper.xml 第66-98行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59055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06 吴博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工单号生成 &amp; 角色数据隔离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E5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2C2C2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3048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String datePrefix = LocalDate.now().format(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DateTimeFormatter.ofPattern("yyyyMMdd")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Roboto Mono"/>
                <a:ea typeface="Roboto Mono"/>
                <a:cs typeface="Roboto Mono"/>
                <a:sym typeface="Roboto Mono"/>
              </a:rPr>
              <a:t>return String.format("WO%s%03d", datePrefix, seq);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采用“WO+日期+三位序号”的规则自动生成唯一工单号，确保编号的规范性与唯一性，便于后续追溯与管理。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89582">
            <a:off x="4191000" y="4121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604000" y="2032000"/>
          <a:ext cx="5080000" cy="361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角色标识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数据可见范围与权限说明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BUYER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仅能查看本人在系统中提交创建的工单，无法访问其他用户的工单数据，保障发起方隐私。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REPAIRER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仅展示系统指派给自己处理的维修工单，聚焦工作任务，避免无关信息干扰，提升处理效率。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ADMIN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拥有最高数据权限，可查看系统内全部工单信息，用于全局监控、流程审批与异常数据排查。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0" name="Connector 10"/>
          <p:cNvCxnSpPr/>
          <p:nvPr/>
        </p:nvCxnSpPr>
        <p:spPr>
          <a:xfrm rot="-4092">
            <a:off x="762004" y="6407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6477000"/>
            <a:ext cx="571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代码位置：WorkOrderServiceImpl.java、WorkOrderController.java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6477000"/>
            <a:ext cx="4953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吴博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系统功能演示步骤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397000"/>
          <a:ext cx="10668000" cy="37211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步骤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操作角色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关键操作动作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系统状态流转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01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buyer1 (发起方)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在客户端填写故障信息，提交创建维修工单申请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初始态 → 0 (待指派)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02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admin (管理员)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审核工单内容，将任务手动指派给维修工程师“张工”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 (待指派) → 1 (待维修)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03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repairer1 (张工)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接收任务通知，现场扫码签到，确认开始设备维修作业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 (待维修) → 2 (维修中)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04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repairer1 (张工)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完成故障修复，填写维修日志与更换配件信息，提交完工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 (维修中) → 3 (待验收)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05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buyer1 (发起方)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核验设备运行状态，确认维修效果符合预期，签署验收通过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 (待验收) → 4 (已完成)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4" name="Connector 4"/>
          <p:cNvCxnSpPr/>
          <p:nvPr/>
        </p:nvCxnSpPr>
        <p:spPr>
          <a:xfrm rot="-4092">
            <a:off x="762004" y="456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890000" y="64516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 |  吴博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项目完成总结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905000"/>
          <a:ext cx="10668000" cy="342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核心模块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E5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关键完成内容与成果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C2C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数据库设计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完成9张核心业务表结构设计，涵盖工单、用户、权限等维度；预置管理员、运维、普通用户三角色种子数据，保障系统初始化可用性。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工单状态机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封装6个标准状态操作接口，实现工单全生命周期流转；内置状态流转合法性校验逻辑，杜绝非法状态跳转，确保业务流程严谨可控。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角色数据隔离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基于RBAC模型实现三类角色差异化数据权限管控，管理员拥有全局权限，运维仅可见负责工单，普通用户仅可操作个人工单，保障数据安全隔离。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工单号生成 &amp; 接口测试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54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实现“WO+日期+6位流水号”的唯一工单号自动生成算法；通过Postman完成全链路接口联调验证，覆盖100%核心业务接口，确保接口稳定性与数据一致性。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9652000" y="628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吴博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87079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基坑安全管理系统</a:t>
            </a:r>
            <a:r>
              <a:rPr lang="zh-CN" alt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权限体系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3048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355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核心技术架构与实机演示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699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9022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核心技术栈：</a:t>
            </a: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Spring Boot + MyBatis + JWT + Vue3 + Three.js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297">
            <a:off x="1016004" y="5518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5999" y="5651500"/>
            <a:ext cx="6114005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基于全栈技术构建，融合BIM与IoT数据，实现基坑安全态势实时感知与预警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9254359" y="5471948"/>
            <a:ext cx="192164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汇报时间：2026年6月</a:t>
            </a: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CB58BB55-BB29-4A94-B815-BD17AE6138C8}"/>
              </a:ext>
            </a:extLst>
          </p:cNvPr>
          <p:cNvSpPr/>
          <p:nvPr/>
        </p:nvSpPr>
        <p:spPr>
          <a:xfrm>
            <a:off x="9436539" y="5681498"/>
            <a:ext cx="1921641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</a:t>
            </a:r>
            <a:r>
              <a:rPr lang="zh-CN" alt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袁梓昊</a:t>
            </a:r>
            <a:endParaRPr lang="en-US" sz="14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系统安全认证架构（JWT）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2000" y="1651000"/>
            <a:ext cx="3048000" cy="3048000"/>
          </a:xfrm>
          <a:prstGeom prst="rect">
            <a:avLst/>
          </a:prstGeom>
          <a:noFill/>
          <a:ln w="25400" cap="flat" cmpd="sng">
            <a:solidFill>
              <a:srgbClr val="00C2D1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采用无状态的 JWT (JSON Web Token) 认证方案，通过数字签名保证传输安全，实现服务端的高效鉴权与扩展。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2095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699000" y="1651000"/>
            <a:ext cx="2222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500" y="1841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34000" y="18034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加密算法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89500" y="2286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HS256 (HMAC-SHA256) 对称加密算法，确保 Token 不可篡改。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1651000"/>
            <a:ext cx="2222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02500" y="184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18034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有效周期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2286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Token 有效期设为 24 小时 (86400000ms)，平衡安全性与用户体验。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461500" y="1651000"/>
            <a:ext cx="2222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000" y="1841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096500" y="18034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Claims 载荷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652000" y="2286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嵌入核心身份信息 `username` 与权限列表 `roles`，减少数据库查询。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0" y="3429000"/>
            <a:ext cx="6985000" cy="1460500"/>
          </a:xfrm>
          <a:prstGeom prst="roundRect">
            <a:avLst>
              <a:gd name="adj" fmla="val 0"/>
            </a:avLst>
          </a:prstGeom>
          <a:solidFill>
            <a:srgbClr val="1E1E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826000" y="3556000"/>
            <a:ext cx="673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public String generateToken(String username, List&lt;String&gt; roles) {</a:t>
            </a:r>
            <a:b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return Jwts.builder().setSubject(username).claim("roles", roles)</a:t>
            </a:r>
            <a:b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.setIssuedAt(new Date()).setExpiration(expiryDate)</a:t>
            </a:r>
            <a:b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.signWith(Keys.hmacShaKeyFor(SECRET_KEY.getBytes()), SignatureAlgorithm.HS256).compact();</a:t>
            </a:r>
            <a:b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CCCCC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99000" y="5207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26000" y="5334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143500" y="53086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成熟依赖库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io.jsonwebtoken (JJWT) 库，封装完善，易于集成与维护。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5207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9000" y="5334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556500" y="53086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高强度密钥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Secret Key 长度严格满足 HS256 算法要求（256位），保障签名安全。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461500" y="52070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88500" y="5334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906000" y="5308600"/>
            <a:ext cx="171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角色权限信息直接嵌入 Token，鉴权时无需频繁查询数据库，提升效率。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JWT 校验与请求拦截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6482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▍Token 提取与验证全流程解析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279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641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提取并初筛：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拦截 HTTP 请求，提取 `Authorization` 请求头，严格校验是否以 `Bearer ` 前缀开头，确保 Token 格式合规。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167">
            <a:off x="1016008" y="3676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116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安全校验：</a:t>
            </a: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利用密钥验证 Token 签名完整性，同时检查 Token 的过期时间 (`exp`)，拒绝非法或已失效的请求访问。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245100"/>
            <a:ext cx="4318000" cy="622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上下文注入：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解析出用户身份与权限信息，构建认证对象并存入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`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SecurityContext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`，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完成用户身份的自动绑定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286500" y="1524000"/>
            <a:ext cx="5143500" cy="4648200"/>
          </a:xfrm>
          <a:prstGeom prst="roundRect">
            <a:avLst>
              <a:gd name="adj" fmla="val 0"/>
            </a:avLst>
          </a:prstGeom>
          <a:solidFill>
            <a:srgbClr val="23282D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477000" y="1657350"/>
            <a:ext cx="4762500" cy="177165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04000" y="1905000"/>
            <a:ext cx="45085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FFB450"/>
                </a:solidFill>
                <a:latin typeface="Roboto Mono"/>
                <a:ea typeface="Roboto Mono"/>
                <a:cs typeface="Roboto Mono"/>
                <a:sym typeface="Roboto Mono"/>
              </a:rPr>
              <a:t>// 1. </a:t>
            </a:r>
            <a:r>
              <a:rPr lang="en-US" sz="1200" b="0" i="0" u="none" strike="noStrike" dirty="0" err="1">
                <a:solidFill>
                  <a:srgbClr val="FFB450"/>
                </a:solidFill>
                <a:latin typeface="Roboto Mono"/>
                <a:ea typeface="Roboto Mono"/>
                <a:cs typeface="Roboto Mono"/>
                <a:sym typeface="Roboto Mono"/>
              </a:rPr>
              <a:t>提取请求头中的</a:t>
            </a:r>
            <a:r>
              <a:rPr lang="en-US" sz="1200" b="0" i="0" u="none" strike="noStrike" dirty="0">
                <a:solidFill>
                  <a:srgbClr val="FFB450"/>
                </a:solidFill>
                <a:latin typeface="Roboto Mono"/>
                <a:ea typeface="Roboto Mono"/>
                <a:cs typeface="Roboto Mono"/>
                <a:sym typeface="Roboto Mono"/>
              </a:rPr>
              <a:t> Token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String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bearerToken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request.getHeader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("Authorization");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if (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bearerToken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!= null &amp;&amp;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bearerToken.startsWith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("Bearer ")) {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token =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bearerToken.substring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(7); //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移除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Bearer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前缀</a:t>
            </a:r>
            <a:endParaRPr lang="en-US" sz="1200" b="0" i="0" u="none" strike="noStrike" dirty="0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476998" y="3543300"/>
            <a:ext cx="4762501" cy="2185988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3746500"/>
            <a:ext cx="4508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FFB450"/>
                </a:solidFill>
                <a:latin typeface="Roboto Mono"/>
                <a:ea typeface="Roboto Mono"/>
                <a:cs typeface="Roboto Mono"/>
                <a:sym typeface="Roboto Mono"/>
              </a:rPr>
              <a:t>// 2. </a:t>
            </a:r>
            <a:r>
              <a:rPr lang="en-US" sz="1200" b="0" i="0" u="none" strike="noStrike" dirty="0" err="1">
                <a:solidFill>
                  <a:srgbClr val="FFB450"/>
                </a:solidFill>
                <a:latin typeface="Roboto Mono"/>
                <a:ea typeface="Roboto Mono"/>
                <a:cs typeface="Roboto Mono"/>
                <a:sym typeface="Roboto Mono"/>
              </a:rPr>
              <a:t>构建认证对象并注入上下文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List&lt;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SimpleGrantedAuthority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&gt; authorities =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roles.stream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.map(r -&gt; new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SimpleGrantedAuthority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("ROLE_" + r)).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toList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UsernamePasswordAuthenticationToken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auth =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new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UsernamePasswordAuthenticationToken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(user, null, authorities);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SecurityContextHolder.getContext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().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setAuthentication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(auth);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6223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00C2D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6273800"/>
            <a:ext cx="1041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核心文件：</a:t>
            </a:r>
            <a:r>
              <a:rPr lang="en-US" sz="1300" b="0" i="0" u="none" strike="noStrike" dirty="0">
                <a:solidFill>
                  <a:srgbClr val="007882"/>
                </a:solidFill>
                <a:latin typeface="Roboto Mono"/>
                <a:ea typeface="Roboto Mono"/>
                <a:cs typeface="Roboto Mono"/>
                <a:sym typeface="Roboto Mono"/>
              </a:rPr>
              <a:t>JwtAuthenticationFilter.java</a:t>
            </a:r>
            <a:r>
              <a:rPr lang="en-US" sz="13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sz="13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核心逻辑：拦截请求头</a:t>
            </a:r>
            <a:r>
              <a:rPr lang="en-US" sz="13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校验有效性</a:t>
            </a:r>
            <a:r>
              <a:rPr lang="en-US" sz="13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300" b="0" i="0" u="none" strike="noStrike" dirty="0" err="1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绑定安全上下文，实现无状态认证</a:t>
            </a:r>
            <a:r>
              <a:rPr lang="en-US" sz="1300" b="0" i="0" u="none" strike="noStrike" dirty="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用户认证与授权体系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11318" r="11318"/>
          <a:stretch>
            <a:fillRect/>
          </a:stretch>
        </p:blipFill>
        <p:spPr>
          <a:xfrm>
            <a:off x="952500" y="1905000"/>
            <a:ext cx="4826000" cy="266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5207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基于RBAC（基于角色的访问控制）模型，通过用户-角色-权限的三层解耦，实现灵活、可扩展的权限管理架构，有效降低授权管理的复杂度。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708">
            <a:off x="4000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604000" y="1651000"/>
            <a:ext cx="4826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04000" y="1651000"/>
            <a:ext cx="76200" cy="23495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858000" y="1778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核心逻辑：UserDetailsService 加载流程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0110">
            <a:off x="6858009" y="2216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858000" y="2349500"/>
            <a:ext cx="444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通过重写</a:t>
            </a:r>
            <a:r>
              <a:rPr lang="en-US" sz="1300" b="1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loadUserByUsername()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方法，从数据库查询用户信息，校验账号状态，并关联其所属角色。最终构建 Spring Security 的 User 对象，完成认证核心数据的加载，为后续鉴权提供基础。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4318000"/>
            <a:ext cx="4826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858000" y="4445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核心数据表结构设计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0110">
            <a:off x="6858009" y="4883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858000" y="5080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921500" y="51816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96A0"/>
                </a:solidFill>
                <a:latin typeface="Noto Sans SC"/>
                <a:ea typeface="Noto Sans SC"/>
                <a:cs typeface="Noto Sans SC"/>
                <a:sym typeface="Noto Sans SC"/>
              </a:rPr>
              <a:t>sys_user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存储用户基础信息，密码采用BCrypt高强度加密存储，确保安全。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407400" y="5080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470900" y="51816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96A0"/>
                </a:solidFill>
                <a:latin typeface="Noto Sans SC"/>
                <a:ea typeface="Noto Sans SC"/>
                <a:cs typeface="Noto Sans SC"/>
                <a:sym typeface="Noto Sans SC"/>
              </a:rPr>
              <a:t>sys_role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定义系统角色（如ADMIN/USER），集中管理权限标识，便于权限归类。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906000" y="5080000"/>
            <a:ext cx="1460500" cy="10795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969500" y="51816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96A0"/>
                </a:solidFill>
                <a:latin typeface="Noto Sans SC"/>
                <a:ea typeface="Noto Sans SC"/>
                <a:cs typeface="Noto Sans SC"/>
                <a:sym typeface="Noto Sans SC"/>
              </a:rPr>
              <a:t>sys_user_role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用户与角色的多对多关联表，实现用户角色的灵活分配与权限解耦。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登录流程与用户管理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核心逻辑：登录接口实现 (UserServiceImpl)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929">
            <a:off x="952508" y="23431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540000"/>
            <a:ext cx="488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14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AuthenticationManager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验证用户名密码（BCrypt匹配），校验通过后查询用户详情与角色列表，生成JWT Token并封装用户信息返回，确保前端鉴权与展示数据一体化。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91000"/>
            <a:ext cx="4889500" cy="1524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3180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"code": 200,</a:t>
            </a:r>
            <a:b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"data": { "token": "eyJhbGciOiJIUzI1NiJ9...",</a:t>
            </a:r>
            <a:b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"userInfo": { "id":1, "username":"admin", "roles":["ADMIN"] } }</a:t>
            </a:r>
            <a:b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1651000"/>
            <a:ext cx="5016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84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18034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接口体系：用户CRUD端点 (UserController)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418">
            <a:off x="6604009" y="2343150"/>
            <a:ext cx="463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604000" y="2667000"/>
          <a:ext cx="48895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接口功能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C2D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C2D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访问路径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C2D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权限控制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C2D1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登录/查询列表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POST/GET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/api/auth/login</a:t>
                      </a:r>
                      <a:b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/api/auth/users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C2D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公开 / ADMIN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创建/更新/删除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POST/PUT/DEL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/api/auth/users</a:t>
                      </a:r>
                      <a:b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/api/auth/users/{id}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C2D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 ADMIN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修改密码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POST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/api/auth/users/{id}/</a:t>
                      </a:r>
                      <a:b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</a:br>
                      <a:r>
                        <a:rPr lang="en-US" sz="1100" b="0" i="0" u="none" strike="noStrike">
                          <a:solidFill>
                            <a:srgbClr val="5050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change-password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C2D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仅限本人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762000" y="6159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00C2D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6223000"/>
            <a:ext cx="1041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Spring Security 构建完整鉴权体系，通过细粒度的角色权限控制，保障用户数据安全与操作合规性。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密码安全与 Security 配置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90708">
            <a:off x="3746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6753" r="6753"/>
          <a:stretch>
            <a:fillRect/>
          </a:stretch>
        </p:blipFill>
        <p:spPr>
          <a:xfrm>
            <a:off x="762000" y="1524000"/>
            <a:ext cx="2286000" cy="1651000"/>
          </a:xfrm>
          <a:prstGeom prst="rect">
            <a:avLst/>
          </a:prstGeom>
          <a:noFill/>
          <a:ln w="12700" cap="flat" cmpd="sng">
            <a:solidFill>
              <a:srgbClr val="00C2D1">
                <a:alpha val="5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02000" y="152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7"/>
                </a:solidFill>
                <a:latin typeface="Noto Sans SC"/>
                <a:ea typeface="Noto Sans SC"/>
                <a:cs typeface="Noto Sans SC"/>
                <a:sym typeface="Noto Sans SC"/>
              </a:rPr>
              <a:t>01. BCrypt 不可逆加密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302000" y="2032000"/>
            <a:ext cx="279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采用自适应哈希函数，为每个密码生成随机盐值，大幅提升计算成本，有效抵御彩虹表和暴力破解攻击。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368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// 加密与验证核心代码 (UserServiceImpl.java)</a:t>
            </a:r>
            <a:br>
              <a:rPr lang="en-US" sz="12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23531"/>
                </a:solidFill>
                <a:latin typeface="Roboto Mono"/>
                <a:ea typeface="Roboto Mono"/>
                <a:cs typeface="Roboto Mono"/>
                <a:sym typeface="Roboto Mono"/>
              </a:rPr>
              <a:t>user.setPassword</a:t>
            </a: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(passwordEncoder.encode(req.getPwd())); // 自动加盐</a:t>
            </a:r>
            <a:br>
              <a:rPr lang="en-US" sz="12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C23531"/>
                </a:solidFill>
                <a:latin typeface="Roboto Mono"/>
                <a:ea typeface="Roboto Mono"/>
                <a:cs typeface="Roboto Mono"/>
                <a:sym typeface="Roboto Mono"/>
              </a:rPr>
              <a:t>passwordEncoder.matches</a:t>
            </a: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(raw, encoded); // 登录验证比对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334000"/>
            <a:ext cx="16002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5461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5435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随机盐值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每次加密结果不同，防彩虹表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2476500" y="5334000"/>
            <a:ext cx="16002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3500" y="5461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921000" y="5435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高计算成本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迭代次数可调，提升破解难度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191000" y="5334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18000" y="5461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635500" y="5435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单向哈希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无法从密文反推原始密码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3888" b="13888"/>
          <a:stretch>
            <a:fillRect/>
          </a:stretch>
        </p:blipFill>
        <p:spPr>
          <a:xfrm>
            <a:off x="6350000" y="1524000"/>
            <a:ext cx="2286000" cy="1651000"/>
          </a:xfrm>
          <a:prstGeom prst="rect">
            <a:avLst/>
          </a:prstGeom>
          <a:noFill/>
          <a:ln w="12700" cap="flat" cmpd="sng">
            <a:solidFill>
              <a:srgbClr val="00C2D1">
                <a:alpha val="50000"/>
              </a:srgbClr>
            </a:solidFill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8890000" y="1524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8087"/>
                </a:solidFill>
                <a:latin typeface="Noto Sans SC"/>
                <a:ea typeface="Noto Sans SC"/>
                <a:cs typeface="Noto Sans SC"/>
                <a:sym typeface="Noto Sans SC"/>
              </a:rPr>
              <a:t>02. Security 规则链配置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0" y="20320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基于过滤器链的精细化权限控制，区分公开接口、管理员接口与需认证接口，保障系统资源安全。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355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368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// 接口权限定义 (SecurityConfig.java)</a:t>
            </a:r>
            <a:b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.requestMatchers("/login").permitAll() // 公开访问</a:t>
            </a:r>
            <a:b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200" b="0" i="0" u="none" strike="noStrike">
                <a:solidFill>
                  <a:srgbClr val="3C3C3C"/>
                </a:solidFill>
                <a:latin typeface="Roboto Mono"/>
                <a:ea typeface="Roboto Mono"/>
                <a:cs typeface="Roboto Mono"/>
                <a:sym typeface="Roboto Mono"/>
              </a:rPr>
              <a:t>.requestMatchers("/users/**").hasRole("ADMIN") // 管理员权限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5334000"/>
            <a:ext cx="16002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461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794500" y="5435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无状态会话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STATELESS模式，配合JWT使用</a:t>
            </a:r>
          </a:p>
        </p:txBody>
      </p:sp>
      <p:sp>
        <p:nvSpPr>
          <p:cNvPr id="27" name="AutoShape 27"/>
          <p:cNvSpPr/>
          <p:nvPr/>
        </p:nvSpPr>
        <p:spPr>
          <a:xfrm>
            <a:off x="8064500" y="5334000"/>
            <a:ext cx="16002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500" y="5461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509000" y="5435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CSRF 禁用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前后端分离场景下无需CSRF Token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779000" y="5334000"/>
            <a:ext cx="1778000" cy="889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06000" y="54610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223500" y="54356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CORS 配置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允许前端跨域访问后端API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监测数据查询功能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522" r="4522"/>
          <a:stretch>
            <a:fillRect/>
          </a:stretch>
        </p:blipFill>
        <p:spPr>
          <a:xfrm>
            <a:off x="762000" y="1524000"/>
            <a:ext cx="3810000" cy="2794000"/>
          </a:xfrm>
          <a:prstGeom prst="rect">
            <a:avLst/>
          </a:prstGeom>
          <a:noFill/>
          <a:ln w="25400" cap="flat" cmpd="sng">
            <a:solidFill>
              <a:srgbClr val="00C2D1">
                <a:alpha val="5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3810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4826000"/>
            <a:ext cx="355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系统面向大型基坑工程现场，实时采集全站仪、伺服轴力计、温度传感器等多类设备数据。通过标准化接口实现多维度数据的统一接入与高效查询，为工程安全监测提供坚实的数据支撑。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708">
            <a:off x="2730500" y="3867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334000" y="1524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334000" y="1524000"/>
            <a:ext cx="21082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461000" y="1778000"/>
            <a:ext cx="185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9EA8"/>
                </a:solidFill>
                <a:latin typeface="Noto Sans SC"/>
                <a:ea typeface="Noto Sans SC"/>
                <a:cs typeface="Noto Sans SC"/>
                <a:sym typeface="Noto Sans SC"/>
              </a:rPr>
              <a:t>01 全站仪位移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接口: /api/monitor/total-station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Mapper: DataTotalStationMapper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表: data_total_station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0" y="1524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0" y="1524000"/>
            <a:ext cx="21082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747000" y="1778000"/>
            <a:ext cx="185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9EA8"/>
                </a:solidFill>
                <a:latin typeface="Noto Sans SC"/>
                <a:ea typeface="Noto Sans SC"/>
                <a:cs typeface="Noto Sans SC"/>
                <a:sym typeface="Noto Sans SC"/>
              </a:rPr>
              <a:t>02 伺服轴力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接口: /api/monitor/axial-force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Mapper: DataAxialForceMapper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表: data_axial_force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779000" y="1524000"/>
            <a:ext cx="210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779000" y="1524000"/>
            <a:ext cx="21082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9906000" y="1778000"/>
            <a:ext cx="185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9EA8"/>
                </a:solidFill>
                <a:latin typeface="Noto Sans SC"/>
                <a:ea typeface="Noto Sans SC"/>
                <a:cs typeface="Noto Sans SC"/>
                <a:sym typeface="Noto Sans SC"/>
              </a:rPr>
              <a:t>03 钢支撑温度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接口: /api/monitor/steel-temp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Mapper: DataSteelTempMapper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表: data_steel_temperature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334000" y="4191000"/>
            <a:ext cx="6553200" cy="2032000"/>
          </a:xfrm>
          <a:prstGeom prst="roundRect">
            <a:avLst>
              <a:gd name="adj" fmla="val 0"/>
            </a:avLst>
          </a:prstGeom>
          <a:solidFill>
            <a:srgbClr val="F0F9FA">
              <a:alpha val="85000"/>
            </a:srgbClr>
          </a:solidFill>
          <a:ln w="12700" cap="flat" cmpd="sng">
            <a:solidFill>
              <a:srgbClr val="00C2D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461000" y="4318000"/>
            <a:ext cx="6299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9EA8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核心实现：PageHelper 物理分页机制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后端通过 PageHelper 插件拦截 MyBatis 查询，自动注入 LIMIT 语句实现高效物理分页。支持按</a:t>
            </a:r>
            <a:r>
              <a:rPr lang="en-US" sz="13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sensorCode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、时间范围精准过滤，封装 PageInfo 返回总记录数、总页数等元数据，确保大数据量下的查询性能与接口响应速度。</a:t>
            </a:r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// 关键代码：PageHelper.startPage(page, pageSize); 自动完成分页逻辑注入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Dashboard 四大核心端点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5494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设备状态统计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8992">
            <a:off x="914418" y="202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14400" y="2159000"/>
            <a:ext cx="229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接口：/api/dashboard/stats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GROUP BY status 聚合，为饼图提供设备健康分布数据。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1397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30600" y="139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1587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02100" y="15494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近7天告警趋势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8992">
            <a:off x="3683018" y="202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83000" y="2159000"/>
            <a:ext cx="229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接口：/api/dashboard/alert-trend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DATE_SUB 筛选周数据，驱动折线图展示告警频次变化。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1397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99200" y="139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1600" y="1587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70700" y="15494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实时异常列表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8992">
            <a:off x="6451618" y="202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51600" y="2159000"/>
            <a:ext cx="229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接口：/api/dashboard/recent-alerts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LIMIT 10 拉取最新告警日志，确保监控面板信息实时同步。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1397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067800" y="1397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0200" y="1587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39300" y="1549400"/>
            <a:ext cx="190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待处理工单监控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992">
            <a:off x="9220218" y="2025650"/>
            <a:ext cx="2298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20200" y="2159000"/>
            <a:ext cx="2298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接口：/api/dashboard/pending-orders</a:t>
            </a:r>
            <a:b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WHERE status &lt; 4 过滤未完结工单，实现全生命周期追踪。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3556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2730500" y="3683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状态分布分析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DeviceInfo 表聚合，快速识别离线、故障设备占比，为运维提供决策依据。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90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952500" y="546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SQL：SELECT status, COUNT(*) FROM device_info GROUP BY status</a:t>
            </a:r>
            <a:b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返回：状态ID与对应数量的键值对映射。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83629">
            <a:off x="3238500" y="49466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4699000" y="3556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667500" y="3683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趋势变化洞察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按日期维度统计工单生成量，直观呈现安全事件的波动趋势，预判风险高发期。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8260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4889500" y="546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SQL：按DATE(create_time)分组，筛选近7天数据</a:t>
            </a:r>
            <a:b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返回：日期字符串与当日告警总数的时间序列数据。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5383629">
            <a:off x="6985000" y="4946665"/>
            <a:ext cx="266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8382000" y="3556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1"/>
          <a:srcRect l="3945" r="3945"/>
          <a:stretch>
            <a:fillRect/>
          </a:stretch>
        </p:blipFill>
        <p:spPr>
          <a:xfrm>
            <a:off x="8509000" y="3683000"/>
            <a:ext cx="17145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2" name="AutoShape 42"/>
          <p:cNvSpPr/>
          <p:nvPr/>
        </p:nvSpPr>
        <p:spPr>
          <a:xfrm>
            <a:off x="10350500" y="3683000"/>
            <a:ext cx="152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多维数据联动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结合热力图等多图表形式，关联异常事件与工单进度，实现工地安全的全景可视。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5090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AutoShape 44"/>
          <p:cNvSpPr/>
          <p:nvPr/>
        </p:nvSpPr>
        <p:spPr>
          <a:xfrm>
            <a:off x="8572500" y="5461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价值：接口设计解耦，支持前端灵活组合图表；极简SQL保证高并发下的查询性能。</a:t>
            </a:r>
            <a:endParaRPr lang="en-US" sz="110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2E75A8D2-A9A1-823C-6042-44C2C956402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3305" t="16044" r="2385" b="6045"/>
          <a:stretch>
            <a:fillRect/>
          </a:stretch>
        </p:blipFill>
        <p:spPr>
          <a:xfrm>
            <a:off x="1000824" y="3960177"/>
            <a:ext cx="1678877" cy="96964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A3F7ED4-BCF9-BE47-DB8D-E3395F68B6E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5231" t="14815" r="2778" b="19259"/>
          <a:stretch>
            <a:fillRect/>
          </a:stretch>
        </p:blipFill>
        <p:spPr>
          <a:xfrm>
            <a:off x="4762513" y="3979096"/>
            <a:ext cx="1854188" cy="9318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实机演示 - 首页大盘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461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可视化图表直观呈现设备全生命周期状态，支持下钻分析与多维度筛选，让复杂数据一目了然，辅助管理者快速把握全局态势。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708">
            <a:off x="3746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1651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84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841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设备状态概览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9098">
            <a:off x="6540518" y="2343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540500" y="2476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通过饼图直观展示在线、离线及故障设备占比，点击扇区可快速筛选对应设备列表，实现数据联动分析。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207500" y="1651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8000" y="184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842500" y="1841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告警趋势监测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098">
            <a:off x="9398018" y="2343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398000" y="2476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折线图呈现近7天告警数量变化趋势，支持时间粒度切换，悬停数据点即可查看当日具体告警详情与峰值原因。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4064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254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425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实时告警响应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098">
            <a:off x="6540518" y="4756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5405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实时滚动展示最近10条异常信息，点击告警条目可一键跳转工单创建页面，自动填充故障信息，缩短响应时效。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4064000"/>
            <a:ext cx="2730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000" y="4254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842500" y="42545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工单全维追踪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9098">
            <a:off x="9398018" y="47561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398000" y="48895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汇聚所有未关闭工单列表，清晰展示处理状态与优先级，点击卡片即可直达工单详情页，实现从告警到处置的闭环管理。</a:t>
            </a:r>
            <a:endParaRPr lang="en-US" sz="110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E3FC493-ACFC-98E5-DAFC-7E911DCBB31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3305" t="16044" r="2385" b="6045"/>
          <a:stretch>
            <a:fillRect/>
          </a:stretch>
        </p:blipFill>
        <p:spPr>
          <a:xfrm>
            <a:off x="290820" y="1824990"/>
            <a:ext cx="5387359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实机演示 - 监测数据页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699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ECharts 实现多维度数据可视化，支持三轴位移、轴力变化及温度分布的实时渲染，为工程监测提供直观、精确的决策依据。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582">
            <a:off x="3746500" y="3613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096000" y="1524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096000" y="1524000"/>
            <a:ext cx="2730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714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16764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全站仪位移监测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7629">
            <a:off x="6223016" y="2152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223000" y="2286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提供 X/Y/Z 三轴位移曲线展示，支持传感器编码筛选与时间范围查询，结合后端分页技术，保障大数据量加载效率。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53500" y="1524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53500" y="1524000"/>
            <a:ext cx="2730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0500" y="1714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461500" y="16764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伺服轴力监测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7629">
            <a:off x="9080516" y="2152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9080500" y="2286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实时绘制轴力变化曲线，自动标注预警值与报警值阈值，数据异常时高亮显示，帮助工程师快速发现风险隐患。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096000" y="3683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096000" y="3683000"/>
            <a:ext cx="2730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387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604000" y="38354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钢支撑温度监测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7629">
            <a:off x="6223016" y="4311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223000" y="4445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采用热力图与趋势曲线双重展示，深度关联分析环境温度变化对轴力数据的影响，为结构安全评估提供多维度支撑。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53500" y="3683000"/>
            <a:ext cx="2730500" cy="1905000"/>
          </a:xfrm>
          <a:prstGeom prst="roundRect">
            <a:avLst>
              <a:gd name="adj" fmla="val 0"/>
            </a:avLst>
          </a:prstGeom>
          <a:solidFill>
            <a:srgbClr val="00C2D1">
              <a:alpha val="10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38735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461500" y="3835400"/>
            <a:ext cx="2095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核心技术支撑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7629">
            <a:off x="9080516" y="4311650"/>
            <a:ext cx="247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080500" y="44450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集成秒级精度时间选择器、动态传感器下拉加载，结合ECharts流畅交互与PageHelper后端分页，打造高性能数据平台。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905500"/>
            <a:ext cx="10922000" cy="635000"/>
          </a:xfrm>
          <a:prstGeom prst="roundRect">
            <a:avLst>
              <a:gd name="adj" fmla="val 0"/>
            </a:avLst>
          </a:prstGeom>
          <a:solidFill>
            <a:srgbClr val="00C2D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952500" y="6032500"/>
            <a:ext cx="1054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通过多源数据融合与可视化展示，实现工程监测数据的全方位、高精度、实时化管理，提升工程安全管控效率。</a:t>
            </a:r>
            <a:endParaRPr lang="en-US" sz="110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7533D33-2AC9-B5E4-8D11-193BA105DE6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5231" t="14815" r="2778" b="19259"/>
          <a:stretch>
            <a:fillRect/>
          </a:stretch>
        </p:blipFill>
        <p:spPr>
          <a:xfrm>
            <a:off x="571497" y="1931028"/>
            <a:ext cx="4749802" cy="23869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安全认证体系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644">
            <a:off x="952518" y="266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89000" y="2921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采用JWT实现无状态认证，支持分布式系统灵活部署；使用BCrypt加密密码，严格遵循OWASP安全标准。基于RBAC模型管控角色权限，并配置CORS解决前后端分离架构的跨域问题。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56000" y="1778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556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500" y="2032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746518" y="266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83000" y="2921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结合MyBatis注解与XML实现混合映射，兼顾开发效率与复杂SQL管理；利用PageHelper插件实现高效物理分页，通过动态SQL与resultMap映射，优雅处理复杂查询条件与关联对象数据。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350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2032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644">
            <a:off x="6540518" y="266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77000" y="2921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采用Service接口与实现类分离的设计，降低耦合度；通过@Transactional实现声明式事务管理，保障数据一致性；封装统一Result响应对象，并建立全局异常处理机制，提升系统健壮性。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1778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00C2D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0805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00C2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1000" y="2032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15500" y="2006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表现层规范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644">
            <a:off x="9271018" y="266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07500" y="2921000"/>
            <a:ext cx="23495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严格遵循RESTful API设计规范，统一/api/*路径前缀，使接口语义清晰；合理使用HTTP状态码反馈请求结果，并集成Swagger自动生成接口文档，极大提升了前后端协作与维护效率。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785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C2D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52500" y="5905500"/>
            <a:ext cx="1054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通过分层架构与标准化技术选型，构建了高安全、高可用、易扩展的系统核心，为业务发展提供了坚实的技术支撑。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技术栈与版本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C2D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1968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222500" y="1968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Spring Security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安全框架 | 版本: 6.x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提供全面的认证授权机制，保障系统数据安全与访问控制。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33800" r="33800"/>
          <a:stretch>
            <a:fillRect/>
          </a:stretch>
        </p:blipFill>
        <p:spPr>
          <a:xfrm>
            <a:off x="4572000" y="1968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842000" y="1968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MyBatis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ORM框架 | 版本: 3.5+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优秀的持久层框架，简化SQL操作，实现灵活的数据库映射。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778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91500" y="1968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9461500" y="1968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PageHelper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分页插件 | 版本: 5.x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基于MyBatis的物理分页工具，高效实现复杂查询的分页逻辑。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2500" y="4381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2222500" y="4381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JJWT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JWT工具 | 版本: 0.11+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实现无状态的Token生成与校验，构建安全可靠的接口鉴权体系。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81500" y="419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 l="22499" r="22500"/>
          <a:stretch>
            <a:fillRect/>
          </a:stretch>
        </p:blipFill>
        <p:spPr>
          <a:xfrm>
            <a:off x="4572000" y="4381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5842000" y="4381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Vue.js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前端框架 | 版本: 3.3+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采用组件化开发模式，结合响应式数据绑定，打造流畅的用户界面。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01000" y="4191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00C2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l="12500" r="12500"/>
          <a:stretch>
            <a:fillRect/>
          </a:stretch>
        </p:blipFill>
        <p:spPr>
          <a:xfrm>
            <a:off x="8191500" y="4381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9461500" y="4381500"/>
            <a:ext cx="1841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C2D1"/>
                </a:solidFill>
                <a:latin typeface="Noto Sans SC"/>
                <a:ea typeface="Noto Sans SC"/>
                <a:cs typeface="Noto Sans SC"/>
                <a:sym typeface="Noto Sans SC"/>
              </a:rPr>
              <a:t>ECharts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图表库 | 版本: 5.x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丰富的可视化图表类型，支持大数据量渲染，直观呈现核心业务数据。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200" y="2682240"/>
            <a:ext cx="9753600" cy="1219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基坑安全管理系统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19200" y="3901440"/>
            <a:ext cx="97536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CADCFC"/>
                </a:solidFill>
              </a:rPr>
              <a:t>前端架构与页面交互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19200" y="5073227"/>
            <a:ext cx="9753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altLang="en-US" sz="2400" dirty="0">
                <a:solidFill>
                  <a:srgbClr val="FFFFFF"/>
                </a:solidFill>
              </a:rPr>
              <a:t>讲解</a:t>
            </a:r>
            <a:r>
              <a:rPr lang="en-US" sz="2400" dirty="0">
                <a:solidFill>
                  <a:srgbClr val="FFFFFF"/>
                </a:solidFill>
              </a:rPr>
              <a:t>人：胡智慧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19200" y="5926667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CADCFC"/>
                </a:solidFill>
              </a:rPr>
              <a:t>指导老师：</a:t>
            </a:r>
            <a:r>
              <a:rPr lang="zh-CN" altLang="en-US" sz="1867" dirty="0">
                <a:solidFill>
                  <a:srgbClr val="CADCFC"/>
                </a:solidFill>
              </a:rPr>
              <a:t>涂超凡</a:t>
            </a:r>
            <a:r>
              <a:rPr lang="en-US" sz="1867" dirty="0">
                <a:solidFill>
                  <a:srgbClr val="CADCFC"/>
                </a:solidFill>
              </a:rPr>
              <a:t>    答辩日期：2026年6月</a:t>
            </a:r>
            <a:endParaRPr lang="en-US" sz="1867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514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一、架构基础与核心机制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038013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1.1 技术栈概览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600" y="1717887"/>
          <a:ext cx="10972800" cy="46329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技术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版本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说明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应用场景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Vue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3.4.0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渐进式前端框架，组合式API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组件开发、状态管理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Vue Router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4.2.5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SPA路由管理，导航守卫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页面路由、权限控制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Element Plus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2.8.0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企业级UI组件库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表单、表格、弹窗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ECharts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6.0.0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数据可视化图表库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饼图、折线图、仪表盘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Axios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1.6.0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HTTP请求库，请求拦截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API调用、Token注入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8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Vite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5.0.0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下一代前端构建工具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开发构建、热更新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832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一、架构基础与核心机制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133687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1.2 项目目录结构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4328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前端采用标准的模块化架构设计，代码结构清晰，易于维护和扩展</a:t>
            </a:r>
            <a:endParaRPr lang="en-US" sz="1867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94" y="2230967"/>
            <a:ext cx="5361940" cy="383116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75360" y="109728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1.3 系统架构图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47440" y="1767840"/>
            <a:ext cx="2814320" cy="640080"/>
          </a:xfrm>
          <a:prstGeom prst="rect">
            <a:avLst/>
          </a:prstGeom>
          <a:solidFill>
            <a:srgbClr val="67C23A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5" name="Text 3"/>
          <p:cNvSpPr/>
          <p:nvPr/>
        </p:nvSpPr>
        <p:spPr>
          <a:xfrm>
            <a:off x="3647440" y="1828800"/>
            <a:ext cx="28143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用户浏览器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5141" y="2590800"/>
            <a:ext cx="16891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E2761"/>
                </a:solidFill>
              </a:rPr>
              <a:t>↑↓ HTTP + JWT ↑↓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087793" y="2950633"/>
            <a:ext cx="4326467" cy="790787"/>
          </a:xfrm>
          <a:prstGeom prst="rect">
            <a:avLst/>
          </a:prstGeom>
          <a:solidFill>
            <a:srgbClr val="409EFF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6"/>
          <p:cNvSpPr/>
          <p:nvPr/>
        </p:nvSpPr>
        <p:spPr>
          <a:xfrm>
            <a:off x="3087793" y="3103881"/>
            <a:ext cx="4326467" cy="4749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前端层：Vue3 + Vue Router + Element Plus + ECharts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06901" y="3817620"/>
            <a:ext cx="16891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E2761"/>
                </a:solidFill>
              </a:rPr>
              <a:t>↑↓ REST API ↑↓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1918547" y="4028440"/>
            <a:ext cx="6962987" cy="629920"/>
          </a:xfrm>
          <a:prstGeom prst="rect">
            <a:avLst/>
          </a:prstGeom>
          <a:solidFill>
            <a:srgbClr val="E6A23C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9"/>
          <p:cNvSpPr/>
          <p:nvPr/>
        </p:nvSpPr>
        <p:spPr>
          <a:xfrm>
            <a:off x="1918547" y="4153747"/>
            <a:ext cx="6962987" cy="3784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后端层：SpringBoot + MyBatis + SpringSecurity + JWT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9627" y="4744720"/>
            <a:ext cx="2252133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E2761"/>
                </a:solidFill>
              </a:rPr>
              <a:t>↑↓ JDBC/WebClient ↑↓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1493521" y="5072381"/>
            <a:ext cx="3587327" cy="727287"/>
          </a:xfrm>
          <a:prstGeom prst="rect">
            <a:avLst/>
          </a:prstGeom>
          <a:solidFill>
            <a:srgbClr val="F56C6C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1493521" y="5179061"/>
            <a:ext cx="3587327" cy="50884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MySQL数据库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35万条监测数据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5689601" y="5069841"/>
            <a:ext cx="3587327" cy="727287"/>
          </a:xfrm>
          <a:prstGeom prst="rect">
            <a:avLst/>
          </a:prstGeom>
          <a:solidFill>
            <a:srgbClr val="B37FEB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4"/>
          <p:cNvSpPr/>
          <p:nvPr/>
        </p:nvSpPr>
        <p:spPr>
          <a:xfrm>
            <a:off x="5689601" y="5176521"/>
            <a:ext cx="3587327" cy="50884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</a:rPr>
              <a:t>DeepSeek AI API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</a:rPr>
              <a:t>智能诊断分析</a:t>
            </a:r>
            <a:endParaRPr lang="en-US" sz="1467" dirty="0"/>
          </a:p>
        </p:txBody>
      </p:sp>
      <p:sp>
        <p:nvSpPr>
          <p:cNvPr id="17" name="Text 0"/>
          <p:cNvSpPr/>
          <p:nvPr/>
        </p:nvSpPr>
        <p:spPr>
          <a:xfrm>
            <a:off x="609600" y="15832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一、架构基础与核心机制</a:t>
            </a:r>
            <a:endParaRPr lang="en-US" sz="373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一、架构基础与核心机制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1.4 Axios请求封装与Token机制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2880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前端通过Axios拦截器实现统一的请求处理，包括Token自动注入和响应数据解包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31648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请求拦截器（自动注入Bearer Token）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75360" y="278299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从localStorage获取token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975360" y="320971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将token注入请求头Authorization: Bearer xxx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975360" y="370501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确保每次请求都携带身份凭证</a:t>
            </a:r>
            <a:endParaRPr lang="en-US" sz="1733" dirty="0"/>
          </a:p>
        </p:txBody>
      </p:sp>
      <p:sp>
        <p:nvSpPr>
          <p:cNvPr id="10" name="Text 1"/>
          <p:cNvSpPr/>
          <p:nvPr/>
        </p:nvSpPr>
        <p:spPr>
          <a:xfrm>
            <a:off x="975360" y="441706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1.5 Axios请求封装（续）</a:t>
            </a:r>
            <a:endParaRPr lang="en-US" sz="2400" dirty="0"/>
          </a:p>
        </p:txBody>
      </p:sp>
      <p:sp>
        <p:nvSpPr>
          <p:cNvPr id="11" name="Text 2"/>
          <p:cNvSpPr/>
          <p:nvPr/>
        </p:nvSpPr>
        <p:spPr>
          <a:xfrm>
            <a:off x="975360" y="4969933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响应拦截器（统一解包Result&lt;T&gt;）</a:t>
            </a:r>
            <a:endParaRPr lang="en-US" sz="1867" dirty="0"/>
          </a:p>
        </p:txBody>
      </p:sp>
      <p:sp>
        <p:nvSpPr>
          <p:cNvPr id="12" name="Text 3"/>
          <p:cNvSpPr/>
          <p:nvPr/>
        </p:nvSpPr>
        <p:spPr>
          <a:xfrm>
            <a:off x="975360" y="544745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判断响应状态码是否为200</a:t>
            </a:r>
            <a:endParaRPr lang="en-US" sz="1733" dirty="0"/>
          </a:p>
        </p:txBody>
      </p:sp>
      <p:sp>
        <p:nvSpPr>
          <p:cNvPr id="13" name="Text 4"/>
          <p:cNvSpPr/>
          <p:nvPr/>
        </p:nvSpPr>
        <p:spPr>
          <a:xfrm>
            <a:off x="975360" y="580813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非200状态码弹出错误提示</a:t>
            </a:r>
            <a:endParaRPr lang="en-US" sz="1733" dirty="0"/>
          </a:p>
        </p:txBody>
      </p:sp>
      <p:sp>
        <p:nvSpPr>
          <p:cNvPr id="14" name="Text 5"/>
          <p:cNvSpPr/>
          <p:nvPr/>
        </p:nvSpPr>
        <p:spPr>
          <a:xfrm>
            <a:off x="975360" y="6139180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成功响应只返回data字段，简化业务代码</a:t>
            </a:r>
            <a:endParaRPr lang="en-US" sz="173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6793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一、架构基础与核心机制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142153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1.6 路由守卫与权限控制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89853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路由守卫是前端权限控制的核心，通过beforeEach钩子在路由跳转前进行权限校验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75360" y="253068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权限校验流程：</a:t>
            </a:r>
            <a:endParaRPr lang="en-US" sz="1867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731520" y="3215640"/>
          <a:ext cx="10241280" cy="1463040"/>
        </p:xfrm>
        <a:graphic>
          <a:graphicData uri="http://schemas.openxmlformats.org/drawingml/2006/table">
            <a:tbl>
              <a:tblPr/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3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步骤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判断条件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处理方式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访问/login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直接放行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无token且需要认证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重定向到/login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有token或不需要认证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正常跳转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468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二、角色权限隔离系统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16840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2.1 三角色权限体系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0340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系统设计了三种角色，实现完整的权限隔离，确保数据安全和操作规范</a:t>
            </a:r>
            <a:endParaRPr lang="en-US" sz="1867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975360" y="2449407"/>
          <a:ext cx="10241280" cy="2438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角色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账号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权限范围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操作能力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管理员 ADMIN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admin / 123456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最高权限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设备管理、派单、验收、全功能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施工方 BUYER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buyer1 / 123456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工单管理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创建工单、查看工单、验收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维修工 REPAIRER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repairer1 / 123456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维修执行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接单、签到、维修完成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75360" y="506560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角色隔离原则：</a:t>
            </a:r>
            <a:endParaRPr lang="en-US" sz="1867" dirty="0"/>
          </a:p>
        </p:txBody>
      </p:sp>
      <p:sp>
        <p:nvSpPr>
          <p:cNvPr id="7" name="Text 4"/>
          <p:cNvSpPr/>
          <p:nvPr/>
        </p:nvSpPr>
        <p:spPr>
          <a:xfrm>
            <a:off x="975360" y="5559213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数据隔离：每个角色只能看到自己权限范围内的数据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975360" y="6117167"/>
            <a:ext cx="97536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33" dirty="0">
                <a:solidFill>
                  <a:srgbClr val="606266"/>
                </a:solidFill>
              </a:rPr>
              <a:t>• 操作隔离：按钮级权限控制，不同角色看到不同的操作按钮</a:t>
            </a:r>
            <a:endParaRPr lang="en-US" sz="1733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8372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二、角色权限隔离系统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159087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2.2 菜单权限控制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6868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通过v-if指令实现菜单级别的权限控制，不同角色看到不同的菜单选项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34526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设备管理菜单仅管理员可见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75360" y="2865967"/>
            <a:ext cx="10241280" cy="12192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frontend/src/views/Layout.vue:39-43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&lt;el-menu-item index="/device" v-if="isAdmin"&gt;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&lt;el-icon&gt;&lt;Monitor /&gt;&lt;/el-icon&gt;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&lt;span&gt;设备管理&lt;/span&gt;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&lt;/el-menu-item&gt;</a:t>
            </a:r>
            <a:endParaRPr lang="en-US" sz="1467" dirty="0"/>
          </a:p>
        </p:txBody>
      </p:sp>
      <p:sp>
        <p:nvSpPr>
          <p:cNvPr id="7" name="Text 5"/>
          <p:cNvSpPr/>
          <p:nvPr/>
        </p:nvSpPr>
        <p:spPr>
          <a:xfrm>
            <a:off x="975360" y="4192693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菜单权限判断逻辑：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975360" y="4876800"/>
            <a:ext cx="10241280" cy="1219200"/>
          </a:xfrm>
          <a:prstGeom prst="rect">
            <a:avLst/>
          </a:prstGeom>
          <a:solidFill>
            <a:srgbClr val="F8FAFC"/>
          </a:solidFill>
        </p:spPr>
        <p:txBody>
          <a:bodyPr wrap="square" rtlCol="0" anchor="ctr"/>
          <a:lstStyle/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Layout.vue中判断当前用户角色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isAdmin = computed(() =&gt; user.value?.role === 'ADMIN')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isBuyer = computed(() =&gt; user.value?.role === 'BUYER')</a:t>
            </a:r>
            <a:endParaRPr lang="en-US" sz="1467" dirty="0"/>
          </a:p>
          <a:p>
            <a:r>
              <a:rPr lang="en-US" sz="1467" dirty="0">
                <a:solidFill>
                  <a:srgbClr val="2C3E5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isRepairer = computed(() =&gt; user.value?.role === 'REPAIRER')</a:t>
            </a:r>
            <a:endParaRPr lang="en-US" sz="1467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564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二、角色权限隔离系统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22936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2.3 角色标签与用户信息展示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2880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顶部导航栏展示当前登录用户信息，包括头像、用户名和角色标签，便于用户快速识别</a:t>
            </a:r>
            <a:endParaRPr lang="en-US" sz="1867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10447" y="2514600"/>
          <a:ext cx="1024128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角色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标签颜色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说明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业务含义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监控中心 ADMIN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danger (红色)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系统管理员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权限最高，负责系统管理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维修工程师 REPAIRER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warning (橙色)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设备维修人员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负责工单接单和维修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施工方 BUYER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success (绿色)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工单发起方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负责创建工单和验收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514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二、角色权限隔离系统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97536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2.4 工单操作按钮权限控制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0688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工单系统设计了严格的按钮级权限控制，根据工单状态和用户角色决定可操作按钮</a:t>
            </a:r>
            <a:endParaRPr lang="en-US" sz="1867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1018540" y="2292773"/>
          <a:ext cx="10241280" cy="34137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工单状态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状态说明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操作按钮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权限条件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待派单(0)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等待管理员指派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派单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仅管理员可见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待接单(1)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等待维修工接单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签到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仅维修工可见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维修中(2)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维修工正在维修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完成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仅维修工可见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待验收(3)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等待验收确认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验收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管理员/施工方可见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待派单/待接单(0,1)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未开始执行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取消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管理员/施工方可见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三、核心功能模块实现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3.1 登录认证模块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2880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登录模块是系统安全的第一道防线，采用JWT无状态认证机制，确保用户身份安全</a:t>
            </a:r>
            <a:endParaRPr lang="en-US" sz="1867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609600" y="2543387"/>
          <a:ext cx="10241280" cy="19507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步骤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技术实现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结果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输入用户名密码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el-form表单组件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表单验证（必填、密码&gt;=6位）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调用登录接口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 /auth/login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后端验证并返回JWT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存储凭证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localStorage.setItem()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token和userInfo持久化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1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跳转首页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router.push()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路由守卫放行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三、核心功能模块实现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22936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3.2 设备管理模块（CRUD）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9484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设备管理模块实现了完整的设备生命周期管理，包括新增、编辑、删除和状态管理</a:t>
            </a:r>
            <a:endParaRPr lang="en-US" sz="1867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975360" y="2484120"/>
          <a:ext cx="10241280" cy="29260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功能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接口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HTTP方法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说明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设备列表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/device/list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分页查询、关键字搜索、状态筛选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新增设备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/device/add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设备编码、名称、类型、防护等级等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编辑设备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/device/update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PUT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根据ID更新设备信息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删除设备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/device/{id}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DELETE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根据ID物理删除设备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状态切换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/device/status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PUT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正常↔故障状态切换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三、核心功能模块实现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21920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3.3 工单调度模块（状态机）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890607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工单系统采用状态机模式，实现从创建到完成的完整生命周期管理</a:t>
            </a:r>
            <a:endParaRPr lang="en-US" sz="1867" dirty="0"/>
          </a:p>
        </p:txBody>
      </p:sp>
      <p:sp>
        <p:nvSpPr>
          <p:cNvPr id="5" name="Text 3"/>
          <p:cNvSpPr/>
          <p:nvPr/>
        </p:nvSpPr>
        <p:spPr>
          <a:xfrm>
            <a:off x="975360" y="237744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工单状态流转图：</a:t>
            </a:r>
            <a:endParaRPr lang="en-US" sz="1867" dirty="0"/>
          </a:p>
        </p:txBody>
      </p:sp>
      <p:sp>
        <p:nvSpPr>
          <p:cNvPr id="6" name="Shape 4"/>
          <p:cNvSpPr/>
          <p:nvPr/>
        </p:nvSpPr>
        <p:spPr>
          <a:xfrm>
            <a:off x="975360" y="2926080"/>
            <a:ext cx="1463040" cy="609600"/>
          </a:xfrm>
          <a:prstGeom prst="rect">
            <a:avLst/>
          </a:prstGeom>
          <a:solidFill>
            <a:srgbClr val="909399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5"/>
          <p:cNvSpPr/>
          <p:nvPr/>
        </p:nvSpPr>
        <p:spPr>
          <a:xfrm>
            <a:off x="975360" y="2987040"/>
            <a:ext cx="146304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待派单(0)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2804160" y="2926080"/>
            <a:ext cx="1463040" cy="609600"/>
          </a:xfrm>
          <a:prstGeom prst="rect">
            <a:avLst/>
          </a:prstGeom>
          <a:solidFill>
            <a:srgbClr val="409EFF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2804160" y="2987040"/>
            <a:ext cx="146304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待接单(1)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4632960" y="2926080"/>
            <a:ext cx="1463040" cy="609600"/>
          </a:xfrm>
          <a:prstGeom prst="rect">
            <a:avLst/>
          </a:prstGeom>
          <a:solidFill>
            <a:srgbClr val="E6A23C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9"/>
          <p:cNvSpPr/>
          <p:nvPr/>
        </p:nvSpPr>
        <p:spPr>
          <a:xfrm>
            <a:off x="4632960" y="2987040"/>
            <a:ext cx="146304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维修中(2)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6461760" y="2926080"/>
            <a:ext cx="1463040" cy="609600"/>
          </a:xfrm>
          <a:prstGeom prst="rect">
            <a:avLst/>
          </a:prstGeom>
          <a:solidFill>
            <a:srgbClr val="B37FEB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Text 11"/>
          <p:cNvSpPr/>
          <p:nvPr/>
        </p:nvSpPr>
        <p:spPr>
          <a:xfrm>
            <a:off x="6461760" y="2987040"/>
            <a:ext cx="146304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待验收(3)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8290560" y="2926080"/>
            <a:ext cx="1463040" cy="609600"/>
          </a:xfrm>
          <a:prstGeom prst="rect">
            <a:avLst/>
          </a:prstGeom>
          <a:solidFill>
            <a:srgbClr val="67C23A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Text 13"/>
          <p:cNvSpPr/>
          <p:nvPr/>
        </p:nvSpPr>
        <p:spPr>
          <a:xfrm>
            <a:off x="8290560" y="2987040"/>
            <a:ext cx="146304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FFFFFF"/>
                </a:solidFill>
              </a:rPr>
              <a:t>已完成(4)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2438400" y="2926080"/>
            <a:ext cx="36576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67200" y="2926080"/>
            <a:ext cx="36576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96000" y="2926080"/>
            <a:ext cx="36576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24800" y="2926080"/>
            <a:ext cx="36576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1E2761"/>
                </a:solidFill>
              </a:rPr>
              <a:t>→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975360" y="3901440"/>
          <a:ext cx="9116907" cy="2804160"/>
        </p:xfrm>
        <a:graphic>
          <a:graphicData uri="http://schemas.openxmlformats.org/drawingml/2006/table">
            <a:tbl>
              <a:tblPr/>
              <a:tblGrid>
                <a:gridCol w="2279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操作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API端点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触发条件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执行角色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创建工单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 /workorder/create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管理员/施工方创建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ADMIN/BUYER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派单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PUT /workorder/{id}/assign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status=0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签到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PUT /workorder/{id}/start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status=1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REPAIRER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完成维修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PUT /workorder/{id}/complete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status=2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REPAIRER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验收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PUT /workorder/{id}/accept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status=3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ADMIN/BUYER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3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取消工单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PUT /workorder/{id}/cancel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status=0/1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ADMIN/BUYER</a:t>
                      </a:r>
                      <a:endParaRPr lang="en-US" sz="13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246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三、核心功能模块实现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142153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3.4 首页大盘（数据可视化）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51753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首页大盘是系统的数据可视化中心，通过统计卡片和图表直观展示设备状态和告警信息</a:t>
            </a:r>
            <a:endParaRPr lang="en-US" sz="1867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975360" y="2423160"/>
          <a:ext cx="10241280" cy="30480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功能模块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API接口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可视化形式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数据来源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设备统计卡片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/dashboard/stats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4个统计卡片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设备状态统计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设备状态分布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/dashboard/stats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ECharts饼图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GROUP BY status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告警趋势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/dashboard/alert-trend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ECharts折线图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近7天告警数据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最近告警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/dashboard/alerts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列表展示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工单数据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待处理工单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/dashboard/orders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列表展示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状态为0/1/2/3的工单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4687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三、核心功能模块实现</a:t>
            </a:r>
            <a:endParaRPr lang="en-US" sz="3733" dirty="0"/>
          </a:p>
        </p:txBody>
      </p:sp>
      <p:sp>
        <p:nvSpPr>
          <p:cNvPr id="3" name="Text 1"/>
          <p:cNvSpPr/>
          <p:nvPr/>
        </p:nvSpPr>
        <p:spPr>
          <a:xfrm>
            <a:off x="975360" y="1046480"/>
            <a:ext cx="97536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409EFF"/>
                </a:solidFill>
              </a:rPr>
              <a:t>3.5 监测数据模块（多数据源）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75360" y="1703493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dirty="0">
                <a:solidFill>
                  <a:srgbClr val="5A6268"/>
                </a:solidFill>
              </a:rPr>
              <a:t>监测数据模块整合了三种类型的传感器数据，支持时间范围筛选和图表可视化</a:t>
            </a:r>
            <a:endParaRPr lang="en-US" sz="1867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9500" y="2238587"/>
          <a:ext cx="8890000" cy="1687407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25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数据类型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API接口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展示内容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数据量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全站仪数据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/monitor/total-station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ΔX/ΔY/ΔH位移(mm)、累计位移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约15万条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伺服轴力数据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/monitor/axial-force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轴力(kN)、行程(mm)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约12万条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钢支撑温度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GET /monitor/steel-temp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温度(℃)、原始测量值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约8万条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75360" y="4084320"/>
            <a:ext cx="97536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E2761"/>
                </a:solidFill>
              </a:rPr>
              <a:t>核心功能特性：</a:t>
            </a:r>
            <a:endParaRPr lang="en-US" sz="1867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79501" y="4572000"/>
          <a:ext cx="9009380" cy="2128520"/>
        </p:xfrm>
        <a:graphic>
          <a:graphicData uri="http://schemas.openxmlformats.org/drawingml/2006/table">
            <a:tbl>
              <a:tblPr/>
              <a:tblGrid>
                <a:gridCol w="3003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3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3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特性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实现方式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技术要点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Tab切换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el-tabs组件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3个tab对应3种数据源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传感器筛选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下拉选择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根据数据类型过滤传感器编号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时间范围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el-date-picker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支持datetime范围选择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分页查询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el-pagination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每页50/100/200条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7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图表可视化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ECharts折线图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支持dataZoom缩放交互</a:t>
                      </a:r>
                      <a:endParaRPr lang="en-US" sz="1500" dirty="0"/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5.1 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PROJECT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6B20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35万真实数据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sql/init_schema.sql + data/ 目录</a:t>
            </a:r>
            <a:br/>
            <a:r>
              <a:t>PitMonitor-TwinBench 学术基准数据集校准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6B20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AI 9种异常诊断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DeepSeekService.java:66-77</a:t>
            </a:r>
            <a:br/>
            <a:r>
              <a:t>注入伺服参数表，区分物理故障与传感器故障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383280"/>
            <a:ext cx="10332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6B20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3D 基坑数字孪生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4747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FoundationPit3D.vue</a:t>
            </a:r>
            <a:br/>
            <a:r>
              <a:t>SketchUp→GLB→Three.js，24台传感器+血条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389120"/>
            <a:ext cx="103327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6B20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工单状态机闭环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0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WorkOrderMapper.xml:66-98</a:t>
            </a:r>
            <a:br/>
            <a:r>
              <a:t>0待派→1待接→2维修→3待验→4完成，SQL前驱校验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88720" y="5532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D6B20"/>
                </a:solidFill>
                <a:latin typeface="Microsoft YaHei"/>
              </a:defRPr>
            </a:pPr>
            <a:r>
              <a:t>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Microsoft YaHei"/>
              </a:defRPr>
            </a:pPr>
            <a:r>
              <a:t>时间序列健康预测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86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train_model.py + calibration.json</a:t>
            </a:r>
            <a:br/>
            <a:r>
              <a:t>线性回归+力温交叉验证，剩余安全运行时间预测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5.2 快速全流程演示 (2min)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LIVE 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12/14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155448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首页大盘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14台设备统计卡片</a:t>
            </a:r>
            <a:br/>
            <a:r>
              <a:t>+ 饼图 + 告警折线图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155448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监测数据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34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SP1 伺服轴力时序曲线</a:t>
            </a:r>
            <a:br/>
            <a:r>
              <a:t>3 Tab 切换 + dataZoom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0" y="1554480"/>
            <a:ext cx="822960" cy="82296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AI 助手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834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健康监测 → 粘贴数据</a:t>
            </a:r>
            <a:br/>
            <a:r>
              <a:t>→ AI 诊断异常类型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0" y="1554480"/>
            <a:ext cx="822960" cy="82296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D6B2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基坑模型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834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3D 旋转 → 点击传感器</a:t>
            </a:r>
            <a:br/>
            <a:r>
              <a:t>→ 4P1 血条 6% 红色</a:t>
            </a:r>
          </a:p>
        </p:txBody>
      </p:sp>
      <p:sp>
        <p:nvSpPr>
          <p:cNvPr id="27" name="Oval 26"/>
          <p:cNvSpPr/>
          <p:nvPr/>
        </p:nvSpPr>
        <p:spPr>
          <a:xfrm>
            <a:off x="10332720" y="1554480"/>
            <a:ext cx="822960" cy="822960"/>
          </a:xfrm>
          <a:prstGeom prst="ellipse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1645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工单调度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834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创建→派单→签到</a:t>
            </a:r>
            <a:br/>
            <a:r>
              <a:t>→维修→验收 全链路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42062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💡 三角色协作演示 — 三浏览器同时登录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66344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┌──────────────┬──────────────┬──────────────┐</a:t>
            </a:r>
          </a:p>
          <a:p>
            <a:pPr algn="l">
              <a:spcAft>
                <a:spcPts val="400"/>
              </a:spcAft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│ Chrome       │ Firefox      │ Safari       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D3748"/>
                </a:solidFill>
                <a:latin typeface="Microsoft YaHei"/>
              </a:defRPr>
            </a:pPr>
            <a:r>
              <a:t>│ admin        │ repairer1    │ buyer1       │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2D3748"/>
                </a:solidFill>
                <a:latin typeface="Microsoft YaHei"/>
              </a:defRPr>
            </a:pPr>
            <a:r>
              <a:t>│ 派单 + 管理  │ 签到 + 维修  │ 创建 + 验收  │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2D3748"/>
                </a:solidFill>
                <a:latin typeface="Microsoft YaHei"/>
              </a:defRPr>
            </a:pPr>
            <a:r>
              <a:t>└──────────────┴──────────────┴──────────────┘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2D3748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400"/>
              </a:spcAft>
              <a:defRPr sz="1500" b="1">
                <a:solidFill>
                  <a:srgbClr val="059A6F"/>
                </a:solidFill>
                <a:latin typeface="Microsoft YaHei"/>
              </a:defRPr>
            </a:pPr>
            <a:r>
              <a:t>buyer1创建工单 → admin派单给张工 → repairer1签到 → 维修完成 → buyer1验收 ✅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5.3 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🔌  WebSocket 实时推送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286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当前监测数据为定时拉取，</a:t>
            </a:r>
            <a:br/>
            <a:r>
              <a:t>未来接入 WebSocket 实现</a:t>
            </a:r>
            <a:br/>
            <a:r>
              <a:t>实时数据推送与即时告警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🧠  集成 LSTM 深度学习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86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当前预测基于线性回归，</a:t>
            </a:r>
            <a:br/>
            <a:r>
              <a:t>未来引入 LSTM 时序模型</a:t>
            </a:r>
            <a:br/>
            <a:r>
              <a:t>提升长周期预测精度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737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📱  移动端适配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286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2423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当前为桌面端 Web 应用，</a:t>
            </a:r>
            <a:br/>
            <a:r>
              <a:t>未来适配移动端实现</a:t>
            </a:r>
            <a:br/>
            <a:r>
              <a:t>现场巡检移动化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023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📡  MQTT 物联网接入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4572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88720" y="4709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直接对接传感器网关，</a:t>
            </a:r>
            <a:br/>
            <a:r>
              <a:t>通过 MQTT 协议实现</a:t>
            </a:r>
            <a:br/>
            <a:r>
              <a:t>设备数据自动采集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📊  更多可视化维度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4572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4709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增加热力图、三维数据场、</a:t>
            </a:r>
            <a:br/>
            <a:r>
              <a:t>AR 现场叠加等高级</a:t>
            </a:r>
            <a:br/>
            <a:r>
              <a:t>可视化能力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840480"/>
            <a:ext cx="32004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0" y="4023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Microsoft YaHei"/>
              </a:defRPr>
            </a:pPr>
            <a:r>
              <a:t>🔐  细粒度权限控制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4572000"/>
            <a:ext cx="731520" cy="2743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0" y="47091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增加数据级权限（按项目/</a:t>
            </a:r>
            <a:br/>
            <a:r>
              <a:t>区域隔离），操作审计</a:t>
            </a:r>
            <a:br/>
            <a:r>
              <a:t>日志与追溯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C4DE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474720"/>
            <a:ext cx="3017520" cy="36576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基坑安全管理系统</a:t>
            </a:r>
          </a:p>
          <a:p>
            <a:pPr algn="ctr">
              <a:spcAft>
                <a:spcPts val="400"/>
              </a:spcAft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Foundation Pit Safety Management System</a:t>
            </a:r>
          </a:p>
          <a:p>
            <a:pPr algn="ctr">
              <a:spcAft>
                <a:spcPts val="40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endParaRPr/>
          </a:p>
          <a:p>
            <a:pPr algn="ctr">
              <a:spcAft>
                <a:spcPts val="400"/>
              </a:spcAft>
              <a:defRPr sz="1800" b="1">
                <a:solidFill>
                  <a:srgbClr val="DD6B20"/>
                </a:solidFill>
                <a:latin typeface="Microsoft YaHei"/>
              </a:defRPr>
            </a:pPr>
            <a:r>
              <a:t>答辩人：胡昱璠（组长）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0">
                <a:solidFill>
                  <a:srgbClr val="809AB0"/>
                </a:solidFill>
                <a:latin typeface="Microsoft YaHei"/>
              </a:defRPr>
            </a:pPr>
            <a:r>
              <a:t>团队成员：胡昱璠 · 袁梓昊 · 吴博 · 胡智慧 · 罗志林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809AB0"/>
                </a:solidFill>
                <a:latin typeface="Microsoft YaHei"/>
              </a:defRPr>
            </a:pPr>
            <a:r>
              <a:t>技术栈：Spring Boot 3.2 · Vue 3 · MySQL 8.0 · Three.js · DeepSeek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7A90"/>
                </a:solidFill>
                <a:latin typeface="Microsoft YaHei"/>
              </a:defRPr>
            </a:pPr>
            <a:r>
              <a:t>2026年6月  ·  JavaWeb应用开发期末答辩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24*95"/>
  <p:tag name="TABLE_ENDDRAG_RECT" val="84*154*524*9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1*125"/>
  <p:tag name="TABLE_ENDDRAG_RECT" val="130*156*532*1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4473</Words>
  <Application>Microsoft Macintosh PowerPoint</Application>
  <PresentationFormat>宽屏</PresentationFormat>
  <Paragraphs>991</Paragraphs>
  <Slides>50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8" baseType="lpstr">
      <vt:lpstr>等线</vt:lpstr>
      <vt:lpstr>Noto Sans SC</vt:lpstr>
      <vt:lpstr>Arial</vt:lpstr>
      <vt:lpstr>Calibri</vt:lpstr>
      <vt:lpstr>Consolas</vt:lpstr>
      <vt:lpstr>Courier New</vt:lpstr>
      <vt:lpstr>Roboto Mono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Ausuka</cp:lastModifiedBy>
  <cp:revision>4</cp:revision>
  <dcterms:created xsi:type="dcterms:W3CDTF">2013-01-27T09:14:16Z</dcterms:created>
  <dcterms:modified xsi:type="dcterms:W3CDTF">2026-06-10T11:48:41Z</dcterms:modified>
  <cp:category/>
</cp:coreProperties>
</file>